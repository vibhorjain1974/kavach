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01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FAR AWAY 2026  ·  SPACE &amp;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0E0FF"/>
                </a:solidFill>
                <a:latin typeface="Calibri"/>
              </a:rPr>
              <a:t>KAVACH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BB"/>
                </a:solidFill>
                <a:latin typeface="Calibri"/>
              </a:rPr>
              <a:t>"It called the farmer before the lights went out."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3383280" cy="411480"/>
          </a:xfrm>
          <a:prstGeom prst="rect">
            <a:avLst/>
          </a:prstGeom>
          <a:solidFill>
            <a:srgbClr val="041A2A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AUTONOMOUS SPACE WEATHER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474720"/>
            <a:ext cx="3383280" cy="411480"/>
          </a:xfrm>
          <a:prstGeom prst="rect">
            <a:avLst/>
          </a:prstGeom>
          <a:solidFill>
            <a:srgbClr val="041A2A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F88"/>
                </a:solidFill>
                <a:latin typeface="Courier New"/>
              </a:rPr>
              <a:t>INDIA · 1.4B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474720"/>
            <a:ext cx="3383280" cy="411480"/>
          </a:xfrm>
          <a:prstGeom prst="rect">
            <a:avLst/>
          </a:prstGeom>
          <a:solidFill>
            <a:srgbClr val="041A2A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23F"/>
                </a:solidFill>
                <a:latin typeface="Courier New"/>
              </a:rPr>
              <a:t>TEAM 404_SHINOBI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02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MAY 10,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E0FF"/>
                </a:solidFill>
                <a:latin typeface="Calibri"/>
              </a:rPr>
              <a:t>A solar storm hit Earth.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91440" cy="3200400"/>
          </a:xfrm>
          <a:prstGeom prst="rect">
            <a:avLst/>
          </a:prstGeom>
          <a:solidFill>
            <a:srgbClr val="00D4FF"/>
          </a:solidFill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88BB"/>
                </a:solidFill>
                <a:latin typeface="Calibri"/>
              </a:rPr>
              <a:t>Indian farmers' GPS-guided tractors stopped working mid-ploughing.
Fishermen on the Kerala coast lost marine radio contact.
India's power grid came within hours of widespread failure.
Nobody called a single farmer.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Aurora photo: Dorje Angchuk · Hanle Observatory, IAO · May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03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India has no space weather warning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  <a:latin typeface="Calibri"/>
              </a:rPr>
              <a:t>1.4 billion people — 28 power utilities, zero automated early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  <a:latin typeface="Calibri"/>
              </a:rPr>
              <a:t>Existing systems: English-only, internet-only, built for the American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  <a:latin typeface="Calibri"/>
              </a:rPr>
              <a:t>GPS failure hits farmers &amp; fishermen first — no app, no internet, no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  <a:latin typeface="Calibri"/>
              </a:rPr>
              <a:t>₹3,000 crore in transformer assets at risk every G5 event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04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KAVACH —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Three actions. Fully autonomous. Zero human trigger.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566160" cy="3200400"/>
          </a:xfrm>
          <a:prstGeom prst="rect">
            <a:avLst/>
          </a:prstGeom>
          <a:solidFill>
            <a:srgbClr val="04101E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NASA DONKI + NOAA SWPC polled every 15 min. No human watches.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2194560"/>
            <a:ext cx="3566160" cy="3200400"/>
          </a:xfrm>
          <a:prstGeom prst="rect">
            <a:avLst/>
          </a:prstGeom>
          <a:solidFill>
            <a:srgbClr val="04101E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331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3832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Storm risk mapped to India's 28 DISCOM zones, north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194560"/>
            <a:ext cx="3566160" cy="3200400"/>
          </a:xfrm>
          <a:prstGeom prst="rect">
            <a:avLst/>
          </a:prstGeom>
          <a:solidFill>
            <a:srgbClr val="04101E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5" y="2331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5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5" y="33832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Hindi voice alert to farmers on basic feature phones. No app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502920"/>
          </a:xfrm>
          <a:prstGeom prst="rect">
            <a:avLst/>
          </a:prstGeom>
          <a:solidFill>
            <a:srgbClr val="01140A"/>
          </a:solidFill>
          <a:ln w="9525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urier New"/>
              </a:rPr>
              <a:t>"Namaste. Main KAVACH bol raha hoon. Ek bada solar toofan aa raha hai. Apni bijli band karein."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05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LIVE DEMO — MAY 2024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Watch 4.5 hours of warning compress into 90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0584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T+0s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94560"/>
            <a:ext cx="594360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KAVACH monitoring — all nominal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100584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T+3s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852928"/>
            <a:ext cx="594360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CME detected — May 8 X-class solar flare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11296"/>
            <a:ext cx="100584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T+5s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11296"/>
            <a:ext cx="594360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NASA confirms Kp=9.0 — EXTREME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4"/>
            <a:ext cx="100584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T+14s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169664"/>
            <a:ext cx="594360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2D4A"/>
                </a:solidFill>
                <a:latin typeface="Calibri"/>
              </a:rPr>
              <a:t>India map → ALL 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28031"/>
            <a:ext cx="100584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T+17s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828031"/>
            <a:ext cx="594360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Alert log — 28 DISCOMs, 12,400 farmers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00584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T+20s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486400"/>
            <a:ext cx="5943600" cy="502920"/>
          </a:xfrm>
          <a:prstGeom prst="rect">
            <a:avLst/>
          </a:prstGeom>
          <a:solidFill>
            <a:srgbClr val="030E1A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88"/>
                </a:solidFill>
                <a:latin typeface="Calibri"/>
              </a:rPr>
              <a:t>HINDI CALL FIRES —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3291840" cy="100584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88"/>
                </a:solidFill>
                <a:latin typeface="Courier New"/>
              </a:rPr>
              <a:t>22.6s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788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DEMO 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3291840" cy="100584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29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88"/>
                </a:solidFill>
                <a:latin typeface="Courier New"/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VERCEL + RAILWAY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06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Autonomous. Stateless. Continuously polling.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FF"/>
                </a:solidFill>
                <a:latin typeface="Calibri"/>
              </a:rPr>
              <a:t>NASA DONKI
15-min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4688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FF"/>
                </a:solidFill>
                <a:latin typeface="Calibri"/>
              </a:rPr>
              <a:t>NOAA SWPC
5-min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24688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D4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KAVACH
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1496" y="24688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FF"/>
                </a:solidFill>
                <a:latin typeface="Calibri"/>
              </a:rPr>
              <a:t>Storm
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1424" y="24688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FF"/>
                </a:solidFill>
                <a:latin typeface="Calibri"/>
              </a:rPr>
              <a:t>DISCOM
Mapper ×28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4688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FF"/>
                </a:solidFill>
                <a:latin typeface="Calibri"/>
              </a:rPr>
              <a:t>Twilio
Hindi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4688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2286000"/>
            <a:ext cx="1417320" cy="868680"/>
          </a:xfrm>
          <a:prstGeom prst="rect">
            <a:avLst/>
          </a:prstGeom>
          <a:solidFill>
            <a:srgbClr val="03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88"/>
                </a:solidFill>
                <a:latin typeface="Calibri"/>
              </a:rPr>
              <a:t>Farmer
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74720"/>
            <a:ext cx="2743200" cy="109728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urier New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DISCOMs 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474720"/>
            <a:ext cx="2743200" cy="109728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88"/>
                </a:solidFill>
                <a:latin typeface="Courier New"/>
              </a:rPr>
              <a:t>15min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069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polling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474720"/>
            <a:ext cx="2743200" cy="109728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urier New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human triggers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474720"/>
            <a:ext cx="2743200" cy="109728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urier New"/>
              </a:rPr>
              <a:t>4.5h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069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warning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07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100% real APIs. Zero mocked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011680" cy="384048"/>
          </a:xfrm>
          <a:prstGeom prst="rect">
            <a:avLst/>
          </a:prstGeom>
          <a:noFill/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urier New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03120"/>
            <a:ext cx="4846320" cy="384048"/>
          </a:xfrm>
          <a:prstGeom prst="rect">
            <a:avLst/>
          </a:prstGeom>
          <a:noFill/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urier New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103120"/>
            <a:ext cx="2194560" cy="384048"/>
          </a:xfrm>
          <a:prstGeom prst="rect">
            <a:avLst/>
          </a:prstGeom>
          <a:noFill/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urier New"/>
              </a:rPr>
              <a:t>Update Freq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103120"/>
            <a:ext cx="2011680" cy="384048"/>
          </a:xfrm>
          <a:prstGeom prst="rect">
            <a:avLst/>
          </a:prstGeom>
          <a:noFill/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urier New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NASA DONKI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484632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Geomagnetic storm events, CME 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88920"/>
            <a:ext cx="219456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Event-driven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7889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alibri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NOAA SWPC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74720"/>
            <a:ext cx="484632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Real-time Kp-index (1-minute resolution)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74720"/>
            <a:ext cx="219456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1 minute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4747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alibr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ISRO MOSDAC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160520"/>
            <a:ext cx="484632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Ionospheric scintillation over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160520"/>
            <a:ext cx="219456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1605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23F"/>
                </a:solidFill>
                <a:latin typeface="Calibr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Twilio Polly.Aditi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846320"/>
            <a:ext cx="484632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Hindi TTS voice calls (hi-IN)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846320"/>
            <a:ext cx="219456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On-demand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846320"/>
            <a:ext cx="2011680" cy="594360"/>
          </a:xfrm>
          <a:prstGeom prst="rect">
            <a:avLst/>
          </a:prstGeom>
          <a:noFill/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alibri"/>
              </a:rPr>
              <a:t>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08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KAVACH MEMORY — 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We applied KAVACH retroactively to every major storm since 2003.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731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FF6B3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ourier New"/>
              </a:rPr>
              <a:t>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5303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Halloween Storm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240280"/>
            <a:ext cx="146304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ourier New"/>
              </a:rPr>
              <a:t>Kp=9.0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240280"/>
            <a:ext cx="1737360" cy="640080"/>
          </a:xfrm>
          <a:prstGeom prst="rect">
            <a:avLst/>
          </a:prstGeom>
          <a:solidFill>
            <a:srgbClr val="01140A"/>
          </a:solidFill>
          <a:ln w="9525">
            <a:solidFill>
              <a:srgbClr val="00552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urier New"/>
              </a:rPr>
              <a:t>8h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4952"/>
            <a:ext cx="731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D4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urier New"/>
              </a:rPr>
              <a:t>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44952"/>
            <a:ext cx="5303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St. Patrick's Day Storm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044952"/>
            <a:ext cx="146304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ourier New"/>
              </a:rPr>
              <a:t>Kp=8.0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44952"/>
            <a:ext cx="1737360" cy="640080"/>
          </a:xfrm>
          <a:prstGeom prst="rect">
            <a:avLst/>
          </a:prstGeom>
          <a:solidFill>
            <a:srgbClr val="01140A"/>
          </a:solidFill>
          <a:ln w="9525">
            <a:solidFill>
              <a:srgbClr val="00552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urier New"/>
              </a:rPr>
              <a:t>6h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9624"/>
            <a:ext cx="731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FFD23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urier New"/>
              </a:rPr>
              <a:t>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49624"/>
            <a:ext cx="5303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September X9.3 Flare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849624"/>
            <a:ext cx="146304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ourier New"/>
              </a:rPr>
              <a:t>Kp=8.0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849624"/>
            <a:ext cx="1737360" cy="640080"/>
          </a:xfrm>
          <a:prstGeom prst="rect">
            <a:avLst/>
          </a:prstGeom>
          <a:solidFill>
            <a:srgbClr val="01140A"/>
          </a:solidFill>
          <a:ln w="9525">
            <a:solidFill>
              <a:srgbClr val="00552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urier New"/>
              </a:rPr>
              <a:t>5h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54296"/>
            <a:ext cx="731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FF2D4A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4A"/>
                </a:solidFill>
                <a:latin typeface="Courier New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54296"/>
            <a:ext cx="530352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2D4A"/>
                </a:solidFill>
                <a:latin typeface="Calibri"/>
              </a:rPr>
              <a:t>May 2024 G5 — Origin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654296"/>
            <a:ext cx="1463040" cy="640080"/>
          </a:xfrm>
          <a:prstGeom prst="rect">
            <a:avLst/>
          </a:prstGeom>
          <a:solidFill>
            <a:srgbClr val="04101E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ourier New"/>
              </a:rPr>
              <a:t>Kp=9.0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54296"/>
            <a:ext cx="1737360" cy="640080"/>
          </a:xfrm>
          <a:prstGeom prst="rect">
            <a:avLst/>
          </a:prstGeom>
          <a:solidFill>
            <a:srgbClr val="01140A"/>
          </a:solidFill>
          <a:ln w="9525">
            <a:solidFill>
              <a:srgbClr val="00552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urier New"/>
              </a:rPr>
              <a:t>4.5h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3474720" cy="91440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urier New"/>
              </a:rPr>
              <a:t>847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Alerts that would have fired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669280"/>
            <a:ext cx="3657600" cy="91440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760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urier New"/>
              </a:rPr>
              <a:t>12,400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6263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Farmers called per storm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669280"/>
            <a:ext cx="3931920" cy="914400"/>
          </a:xfrm>
          <a:prstGeom prst="rect">
            <a:avLst/>
          </a:prstGeom>
          <a:solidFill>
            <a:srgbClr val="0512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76072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888BB"/>
                </a:solidFill>
                <a:latin typeface="Courier New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26364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Actual alerts (no system existed)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09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DAILY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Not just emergencies. 365 days a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029200" cy="4114800"/>
          </a:xfrm>
          <a:prstGeom prst="rect">
            <a:avLst/>
          </a:prstGeom>
          <a:solidFill>
            <a:srgbClr val="01140A"/>
          </a:solidFill>
          <a:ln w="9525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88"/>
                </a:solidFill>
                <a:latin typeface="Courier New"/>
              </a:rPr>
              <a:t>Every morning at 6:30 AM IST:
KAVACH Suraksha Sandesh — June 12
Space Weather Score: 95 / 100
GPS Shuddhata: Normal
Grid Suraksha: Minimal
KAVACH active hai.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Score 0–100: 100 = perfect solar, 12 = G5 extreme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6700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67004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Hindi for farmers · English for DISCOM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328416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32841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GPS status + grid risk + recommended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986784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8678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Aurora forecast for Hanle, Pangong, Ladakh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10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Built for revenue from day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2004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E0FF"/>
                </a:solidFill>
                <a:latin typeface="Calibri"/>
              </a:rPr>
              <a:t>Free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94560"/>
            <a:ext cx="59436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Public alerts — farmers, fishermen, citizens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194560"/>
            <a:ext cx="22860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0FF"/>
                </a:solidFill>
                <a:latin typeface="Courier New"/>
              </a:rPr>
              <a:t>₹0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32004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DISCOM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108960"/>
            <a:ext cx="59436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Per-utility: 72h forecast, operator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3108960"/>
            <a:ext cx="22860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urier New"/>
              </a:rPr>
              <a:t>₹2–5L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2004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5 DISCOMs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023360"/>
            <a:ext cx="59436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Year 1 ARR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4023360"/>
            <a:ext cx="22860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ourier New"/>
              </a:rPr>
              <a:t>₹1.8Cr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32004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23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937760"/>
            <a:ext cx="59436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22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Aviation · Telecom · Insurance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4937760"/>
            <a:ext cx="2286000" cy="7772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urier New"/>
              </a:rP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704320" cy="594360"/>
          </a:xfrm>
          <a:prstGeom prst="rect">
            <a:avLst/>
          </a:prstGeom>
          <a:solidFill>
            <a:srgbClr val="01140A"/>
          </a:solidFill>
          <a:ln w="9525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88"/>
                </a:solidFill>
                <a:latin typeface="Calibri"/>
              </a:rPr>
              <a:t>ROI: ₹5L/month cost vs ₹3,000Cr asset exposure = 600x ROI on a single avoided G5 event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11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ISRO maps satellites. KAVACH maps India's last mile.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EXISTING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ISRO: satellite health — not grids, not farmers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18687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7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NOAA SWPC: English, internet, US-centric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770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SpaceWeatherLive: no India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35424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3542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None automate Hindi calls to feature phones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KAVACH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28 DISCOM registry — real utilities, real lat/lng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18687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1868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Hindi voice on feature phones — no app, no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77056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7705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India-first geomagnetic exposure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535424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3542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Fully autonomous loop — NASA → call, no human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12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ROUND 2 ROADMAP — DELHI → TOKYO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Coming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solidFill>
            <a:srgbClr val="01140A"/>
          </a:solidFill>
          <a:ln w="9525">
            <a:solidFill>
              <a:srgbClr val="0088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88"/>
                </a:solidFill>
                <a:latin typeface="Calibri"/>
              </a:rPr>
              <a:t>🌐  FLAGSHIP: Multi-Language Expansion
Hindi base + Tamil, Telugu, Marathi, Bengali, Punjabi, Gujarati, Kannada by DISCOM zone. Auto-detected by pincode.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5577840" cy="10058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0FF"/>
                </a:solidFill>
                <a:latin typeface="Calibri"/>
              </a:rPr>
              <a:t>🛰️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ISRO VEDAS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307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India-specific GPS accuracy forecasting no foreign tool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577840" cy="10058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0FF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WhatsApp + SMS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194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When call fails — WhatsApp delivers in their language. Zero missed alerts.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91840"/>
            <a:ext cx="5577840" cy="10058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0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337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Transformer Damage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7307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Per-substation failure probability — DISCOMs get a ranked isolation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5577840" cy="100584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26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0FF"/>
                </a:solidFill>
                <a:latin typeface="Calibri"/>
              </a:rPr>
              <a:t>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5262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CME Transit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9194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4–18 hour precise countdown vs 30-minute reactive alert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13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3-YEAR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0FF"/>
                </a:solidFill>
                <a:latin typeface="Calibri"/>
              </a:rPr>
              <a:t>KAVACH becomes the layer between space and 1.4 billion Indians.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BB"/>
                </a:solidFill>
                <a:latin typeface="Calibri"/>
              </a:rPr>
              <a:t>India's missing space weather authority — not a product,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3657600" cy="41148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YEAR 1 — DELHI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3657600" cy="914400"/>
          </a:xfrm>
          <a:prstGeom prst="rect">
            <a:avLst/>
          </a:prstGeom>
          <a:solidFill>
            <a:srgbClr val="041020"/>
          </a:solidFill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D4FF"/>
                </a:solidFill>
                <a:latin typeface="Courier New"/>
              </a:rPr>
              <a:t>₹3Cr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365760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5 DISCOMs · Hindi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2743200"/>
            <a:ext cx="3657600" cy="41148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YEAR 2 — EXPAND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3154680"/>
            <a:ext cx="3657600" cy="914400"/>
          </a:xfrm>
          <a:prstGeom prst="rect">
            <a:avLst/>
          </a:prstGeom>
          <a:solidFill>
            <a:srgbClr val="041020"/>
          </a:solidFill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D23F"/>
                </a:solidFill>
                <a:latin typeface="Courier New"/>
              </a:rPr>
              <a:t>₹47Cr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4069080"/>
            <a:ext cx="365760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28 DISCOMs · 8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2743200"/>
            <a:ext cx="3657600" cy="41148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YEAR 3 — TOKYO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3154680"/>
            <a:ext cx="3657600" cy="914400"/>
          </a:xfrm>
          <a:prstGeom prst="rect">
            <a:avLst/>
          </a:prstGeom>
          <a:solidFill>
            <a:srgbClr val="041020"/>
          </a:solidFill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FF88"/>
                </a:solidFill>
                <a:latin typeface="Courier New"/>
              </a:rPr>
              <a:t>₹200Cr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4069080"/>
            <a:ext cx="365760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Telecom · Insurance · SAARC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37760"/>
            <a:ext cx="73152" cy="1371600"/>
          </a:xfrm>
          <a:prstGeom prst="rect">
            <a:avLst/>
          </a:prstGeom>
          <a:solidFill>
            <a:srgbClr val="00D4FF"/>
          </a:solidFill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E0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88BB"/>
                </a:solidFill>
                <a:latin typeface="Calibri"/>
              </a:rPr>
              <a:t>"The next G5 storm is not a matter of if — it's when. KAVACH will be ready."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BB"/>
                </a:solidFill>
                <a:latin typeface="Courier New"/>
              </a:rPr>
              <a:t>14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urier New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0E0FF"/>
                </a:solidFill>
                <a:latin typeface="Calibri"/>
              </a:rPr>
              <a:t>KAVACH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888BB"/>
                </a:solidFill>
                <a:latin typeface="Calibri"/>
              </a:rPr>
              <a:t>"It called the farmer before the lights went out."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577840" cy="347472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05072"/>
            <a:ext cx="557784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frontend-rust-xi-79.vercel.app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5577840" cy="347472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05072"/>
            <a:ext cx="557784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github.com/VibhorJain1974/kavach-faraway-2026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577840" cy="347472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10912"/>
            <a:ext cx="557784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jvibhor202@gmail.com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577840" cy="347472"/>
          </a:xfrm>
          <a:prstGeom prst="rect">
            <a:avLst/>
          </a:prstGeom>
          <a:solidFill>
            <a:srgbClr val="041020"/>
          </a:solidFill>
          <a:ln w="9525">
            <a:solidFill>
              <a:srgbClr val="00335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ourier New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10912"/>
            <a:ext cx="5577840" cy="502920"/>
          </a:xfrm>
          <a:prstGeom prst="rect">
            <a:avLst/>
          </a:prstGeom>
          <a:solidFill>
            <a:srgbClr val="041020"/>
          </a:solidFill>
          <a:ln w="9525">
            <a:solidFill>
              <a:srgbClr val="00446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404_SHINOBI  ·  FAR AWAY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