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rontend-rust-xi-79.vercel.app" TargetMode="External"/><Relationship Id="rId3" Type="http://schemas.openxmlformats.org/officeDocument/2006/relationships/hyperlink" Target="https://github.com/VibhorJain1974/kavach-faraway-2026" TargetMode="External"/><Relationship Id="rId4" Type="http://schemas.openxmlformats.org/officeDocument/2006/relationships/hyperlink" Target="mailto:jvibhor202@gmail.com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01/12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6784848"/>
          </a:xfrm>
          <a:prstGeom prst="rect">
            <a:avLst/>
          </a:prstGeom>
          <a:gradFill>
            <a:gsLst>
              <a:gs pos="0">
                <a:srgbClr val="030812"/>
              </a:gs>
              <a:gs pos="100000">
                <a:srgbClr val="04162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6576"/>
            <a:ext cx="12188952" cy="420624"/>
          </a:xfrm>
          <a:prstGeom prst="rect">
            <a:avLst/>
          </a:prstGeom>
          <a:solidFill>
            <a:srgbClr val="020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14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FAR AWAY 2026  |  SPACE &amp; AEROSPACE  |  TEAM 404_SHINOBI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9144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872A8"/>
                </a:solidFill>
                <a:latin typeface="Consolas"/>
              </a:rPr>
              <a:t>14 JUN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658368"/>
            <a:ext cx="7315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 i="0">
                <a:solidFill>
                  <a:srgbClr val="E2E2FF"/>
                </a:solidFill>
                <a:latin typeface="Calibri Light"/>
              </a:rPr>
              <a:t>KAVACH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2633472"/>
            <a:ext cx="6858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4466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8686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00D4FF"/>
                </a:solidFill>
                <a:latin typeface="Calibri Light"/>
              </a:rPr>
              <a:t>कवच  —  Autonomous Space Weather Shield for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37560"/>
            <a:ext cx="8961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872A8"/>
                </a:solidFill>
                <a:latin typeface="Calibri Light"/>
              </a:rPr>
              <a:t>"It called the farmer before the lights went out."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D4FF"/>
                </a:solidFill>
                <a:latin typeface="Consolas"/>
              </a:rPr>
              <a:t>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DISCOMs warned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88"/>
                </a:solidFill>
                <a:latin typeface="Consolas"/>
              </a:rPr>
              <a:t>12,400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Farmers per storm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4114800"/>
            <a:ext cx="3611880" cy="141732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206240"/>
            <a:ext cx="3410712" cy="878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23F"/>
                </a:solidFill>
                <a:latin typeface="Consolas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5036058"/>
            <a:ext cx="3447288" cy="49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Human triggers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806440"/>
            <a:ext cx="5349240" cy="347472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585216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LIVE: frontend-rust-xi-79.vercel.app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61888" y="5806440"/>
            <a:ext cx="5779008" cy="347472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08192" y="5852160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onsolas"/>
              </a:rPr>
              <a:t>REPO: github.com/VibhorJain1974/kavach-faraway-2026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02/12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2D4A"/>
                </a:solidFill>
                <a:latin typeface="Calibri Light"/>
              </a:rPr>
              <a:t>Zero Warning.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508760"/>
            <a:ext cx="11430000" cy="502920"/>
          </a:xfrm>
          <a:prstGeom prst="roundRect">
            <a:avLst/>
          </a:prstGeom>
          <a:gradFill>
            <a:gsLst>
              <a:gs pos="0">
                <a:srgbClr val="4a000e"/>
              </a:gs>
              <a:gs pos="100000">
                <a:srgbClr val="1a0008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5910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2D4A"/>
                </a:solidFill>
                <a:latin typeface="Consolas"/>
              </a:rPr>
              <a:t>May 10-11, 2024  |  Kp = 9.0  |  G5 EXTREME  |  India's grid nearly failed  |  0 warnings issued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7A0018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2D4A"/>
                </a:solidFill>
                <a:latin typeface="Consolas"/>
              </a:rPr>
              <a:t>!!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2D4A"/>
                </a:solidFill>
                <a:latin typeface="Calibri Light"/>
              </a:rPr>
              <a:t>No Indian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28 DISCOMs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Zero automated alerts
across all power utilities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D23F"/>
                </a:solidFill>
                <a:latin typeface="Consolas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3F"/>
                </a:solidFill>
                <a:latin typeface="Calibri Light"/>
              </a:rPr>
              <a:t>Wrong 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English-only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Internet-only western tools
useless at India's last mile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84464" y="2240280"/>
            <a:ext cx="3584448" cy="3246120"/>
          </a:xfrm>
          <a:prstGeom prst="roundRect">
            <a:avLst/>
          </a:prstGeom>
          <a:solidFill>
            <a:srgbClr val="081830"/>
          </a:solidFill>
          <a:ln w="19050">
            <a:solidFill>
              <a:srgbClr val="663300"/>
            </a:solidFill>
          </a:ln>
          <a:effectLst>
            <a:outerShdw blurRad="63500" dist="30000" dir="5400000" algn="ctr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67344" y="23774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Consola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0175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35"/>
                </a:solidFill>
                <a:latin typeface="Calibri Light"/>
              </a:rPr>
              <a:t>Feature Phone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3456432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2E2FF"/>
                </a:solidFill>
                <a:latin typeface="Calibri Light"/>
              </a:rPr>
              <a:t>300M farmers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3886200"/>
            <a:ext cx="3200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</a:rPr>
              <a:t>No smartphone, no internet
no way to receive any warning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715000"/>
            <a:ext cx="11384280" cy="658368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06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2D4A"/>
                </a:solidFill>
                <a:latin typeface="Calibri Light"/>
              </a:rPr>
              <a:t>Rs.3,000 Cr transformer assets at risk every G5 event  |  4.5 hours of actionable warning window lost forever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03/12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9144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D4FF"/>
                </a:solidFill>
                <a:latin typeface="Calibri Light"/>
              </a:rPr>
              <a:t>KAVACH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onsolas"/>
              </a:rPr>
              <a:t>Autonomous  |  Real-time  |  Hindi voice  |  No human trigger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2FF"/>
                </a:solidFill>
                <a:latin typeface="Calibri Light"/>
              </a:rPr>
              <a:t>NASA
DONKI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95144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7004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E2E2FF"/>
                </a:solidFill>
                <a:latin typeface="Calibri Light"/>
              </a:rPr>
              <a:t>NOAA
SWPC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3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2011680"/>
            <a:ext cx="1874519" cy="1261872"/>
          </a:xfrm>
          <a:prstGeom prst="roundRect">
            <a:avLst/>
          </a:prstGeom>
          <a:gradFill>
            <a:gsLst>
              <a:gs pos="0">
                <a:srgbClr val="001428"/>
              </a:gs>
              <a:gs pos="100000">
                <a:srgbClr val="002244"/>
              </a:gs>
            </a:gsLst>
            <a:lin ang="10800000" scaled="0"/>
          </a:gradFill>
          <a:ln w="1270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4607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alibri Light"/>
              </a:rPr>
              <a:t>KAVACH
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7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D4FF"/>
                </a:solidFill>
                <a:latin typeface="Consolas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4264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67727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59167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23F"/>
                </a:solidFill>
                <a:latin typeface="Calibri Light"/>
              </a:rPr>
              <a:t>28
DISCOMs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7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warned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3" y="2514600"/>
            <a:ext cx="30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62288" y="2011680"/>
            <a:ext cx="1874519" cy="12618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2121408"/>
            <a:ext cx="170992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FF88"/>
                </a:solidFill>
                <a:latin typeface="Calibri Light"/>
              </a:rPr>
              <a:t>Farmer
Phone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3728" y="2788920"/>
            <a:ext cx="17099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no 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4FF"/>
                </a:solidFill>
                <a:latin typeface="Consolas"/>
              </a:rPr>
              <a:t>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onsolas"/>
              </a:rPr>
              <a:t>MONITOR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NASA + NOAA
every 5–15 min
autonomously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35424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D23F"/>
                </a:solidFill>
                <a:latin typeface="Consolas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35424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35424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onsolas"/>
              </a:rPr>
              <a:t>MAP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5424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28 zones
north-first
real DISCOM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3520440"/>
            <a:ext cx="3584448" cy="233172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49056" y="3630168"/>
            <a:ext cx="65836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FF88"/>
                </a:solidFill>
                <a:latin typeface="Consolas"/>
              </a:rPr>
              <a:t>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49056" y="4224528"/>
            <a:ext cx="324612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49056" y="4315968"/>
            <a:ext cx="3200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onsolas"/>
              </a:rPr>
              <a:t>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9056" y="4736592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Hindi TTS
feature phone
0 internet needed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998464"/>
            <a:ext cx="11384280" cy="475488"/>
          </a:xfrm>
          <a:prstGeom prst="roundRect">
            <a:avLst/>
          </a:prstGeom>
          <a:solidFill>
            <a:srgbClr val="011208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" y="605332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00FF88"/>
                </a:solidFill>
                <a:latin typeface="Consolas"/>
              </a:rPr>
              <a:t>"Namaste. Main KAVACH bol raha hoon. Ek bada solar toofan aa raha hai. Bijli band kar dijiye."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04/12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5943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Four layers.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onsolas"/>
              </a:rPr>
              <a:t>Realtime  +  Predictive  +  Historical  +  Daily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83080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onsolas"/>
              </a:rPr>
              <a:t>MAP</a:t>
            </a:r>
          </a:p>
        </p:txBody>
      </p:sp>
      <p:sp>
        <p:nvSpPr>
          <p:cNvPr id="9" name="Rectangle 8"/>
          <p:cNvSpPr/>
          <p:nvPr/>
        </p:nvSpPr>
        <p:spPr>
          <a:xfrm>
            <a:off x="1581912" y="1911095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1" y="1856231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Command Center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1" y="2258568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Live India map  |  28 DISCOM zones  |  Kp gauge  |  alert feed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90088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81528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AUR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1912" y="3118104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3351" y="3063240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Aurora Predictor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1" y="3465576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6 Indian locations  |  Kp-based visibility  |  Hindi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4197096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288536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23F"/>
                </a:solidFill>
                <a:latin typeface="Consolas"/>
              </a:rPr>
              <a:t>SHD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81912" y="4325112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73351" y="4270248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Daily Shield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1" y="4672583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Score 0-100  |  6:30 AM IST  |  GPS + grid + aurora status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404104"/>
            <a:ext cx="5623560" cy="107899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95544"/>
            <a:ext cx="960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  <a:latin typeface="Consolas"/>
              </a:rPr>
              <a:t>MEM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81912" y="5532120"/>
            <a:ext cx="18288" cy="841247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73351" y="5477256"/>
            <a:ext cx="4206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 Light"/>
              </a:rPr>
              <a:t>Storm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73351" y="5879592"/>
            <a:ext cx="4206240" cy="512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4 storms since 2003  |  847 alerts fired  |  counterfactual</a:t>
            </a:r>
          </a:p>
        </p:txBody>
      </p:sp>
      <p:pic>
        <p:nvPicPr>
          <p:cNvPr id="27" name="Picture 26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457200"/>
            <a:ext cx="5760720" cy="360045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236208" y="457200"/>
            <a:ext cx="5760720" cy="3600450"/>
          </a:xfrm>
          <a:prstGeom prst="rect">
            <a:avLst/>
          </a:prstGeom>
          <a:noFill/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6_demo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4160520"/>
            <a:ext cx="5760720" cy="257860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6236208" y="4160520"/>
            <a:ext cx="5760720" cy="2578608"/>
          </a:xfrm>
          <a:prstGeom prst="rect">
            <a:avLst/>
          </a:prstGeom>
          <a:noFill/>
          <a:ln w="1905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4224528"/>
            <a:ext cx="2286000" cy="274320"/>
          </a:xfrm>
          <a:prstGeom prst="rect">
            <a:avLst/>
          </a:prstGeom>
          <a:solidFill>
            <a:srgbClr val="3A0010"/>
          </a:solidFill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2D4A"/>
                </a:solidFill>
                <a:latin typeface="Consolas"/>
              </a:rPr>
              <a:t>[ MAY 2024 REPLAY ]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05/12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Real APIs. Zero mocks.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Every data source is live.  Every call is real Twilio.  Every map pin is a real DISCOM.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75564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90195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175564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59152" y="19019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Next.js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50208" y="175564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78224" y="192024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TypeScript  +  Tailwind CSS  +  Mapbox GL JS  +  Three.js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57860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72491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BACKEND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67712" y="257860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9152" y="272491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onsolas"/>
              </a:rPr>
              <a:t>FastAPI 0.110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50208" y="257860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78224" y="274320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APScheduler  +  Python 3.13  +  httpx  +  Supabase client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40156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54787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DATABASE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67712" y="340156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59152" y="354787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Supabase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0208" y="340156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78224" y="356616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PostgreSQL  +  realtime  |  28 DISCOMs  +  alert log  +  v2 tables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22452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37083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VOICE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67712" y="422452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152" y="437083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F88"/>
                </a:solidFill>
                <a:latin typeface="Consolas"/>
              </a:rPr>
              <a:t>Twilio + Polly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50208" y="422452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78224" y="438912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Amazon Polly Aditi (hi-IN)  |  TTS -&gt; MP3 fallback  |  call recording proof in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504748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19379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23F"/>
                </a:solidFill>
                <a:latin typeface="Consolas"/>
              </a:rPr>
              <a:t>DATA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67712" y="504748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9152" y="519379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D23F"/>
                </a:solidFill>
                <a:latin typeface="Consolas"/>
              </a:rPr>
              <a:t>NASA DONKI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50208" y="504748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78224" y="5212079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NOAA SWPC Kp 5-min  +  NASA CME/GST 15-min  +  local storm archive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870448"/>
            <a:ext cx="1755648" cy="69494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6016752"/>
            <a:ext cx="15910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72A8"/>
                </a:solidFill>
                <a:latin typeface="Consolas"/>
              </a:rPr>
              <a:t>DEPLOY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267712" y="5870448"/>
            <a:ext cx="1572768" cy="694944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59152" y="6016752"/>
            <a:ext cx="142646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872A8"/>
                </a:solidFill>
                <a:latin typeface="Consolas"/>
              </a:rPr>
              <a:t>Vercel + Railway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50208" y="5870448"/>
            <a:ext cx="7863840" cy="694944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78224" y="6035040"/>
            <a:ext cx="7626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onsolas"/>
              </a:rPr>
              <a:t>frontend-rust-xi-79.vercel.app  +  powerful-respect-production.up.railway.app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9496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80744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Vercel deploy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355848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83864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25112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Railway backend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00216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2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Twilio tested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44584" y="6345936"/>
            <a:ext cx="2743200" cy="402336"/>
          </a:xfrm>
          <a:prstGeom prst="roundRect">
            <a:avLst/>
          </a:prstGeom>
          <a:solidFill>
            <a:srgbClr val="020C1C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72600" y="6437376"/>
            <a:ext cx="777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FF"/>
                </a:solidFill>
                <a:latin typeface="Consolas"/>
              </a:rPr>
              <a:t>6 DAYS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3848" y="6437376"/>
            <a:ext cx="17190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Concept to ship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06/12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Autonomous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No human in the trigger path.  Polls every 5-15 min.  Fires alerts in parallel.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755648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836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NASA DONKI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CME + GST
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23113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3328415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5643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NOAA SWPC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50207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Kp-index
5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78608" y="380390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" y="4901183"/>
            <a:ext cx="2148840" cy="12984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029199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872A8"/>
                </a:solidFill>
                <a:latin typeface="Calibri Light"/>
              </a:rPr>
              <a:t>ISRO VEDAS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22975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Phase 2
ionosphere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9232" y="1627632"/>
            <a:ext cx="3063240" cy="4572000"/>
          </a:xfrm>
          <a:prstGeom prst="roundRect">
            <a:avLst/>
          </a:prstGeom>
          <a:gradFill>
            <a:gsLst>
              <a:gs pos="0">
                <a:srgbClr val="001428"/>
              </a:gs>
              <a:gs pos="100000">
                <a:srgbClr val="020c1c"/>
              </a:gs>
            </a:gsLst>
            <a:lin ang="10800000" scaled="0"/>
          </a:gradFill>
          <a:ln w="1905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99232" y="1627632"/>
            <a:ext cx="306324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1737360"/>
            <a:ext cx="2852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4FF"/>
                </a:solidFill>
                <a:latin typeface="Consolas"/>
              </a:rPr>
              <a:t>KAVACH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304288"/>
            <a:ext cx="285292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onsolas"/>
              </a:rPr>
              <a:t>FastAPI + APScheduler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724912"/>
            <a:ext cx="2834640" cy="20116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27248" y="281635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Storm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27248" y="341071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DISCOM Mapper (x28)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27248" y="400507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Aurora Predictor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27248" y="459943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Daily Shield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27248" y="5193792"/>
            <a:ext cx="2834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2FF"/>
                </a:solidFill>
                <a:latin typeface="Calibri Light"/>
              </a:rPr>
              <a:t>  Alert Generator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8" y="213969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onsolas"/>
              </a:rPr>
              <a:t>-&gt;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56832" y="1755648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84848" y="1865376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Supabase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22860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Alert log +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34381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56832" y="3054096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84848" y="3163824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Twilio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35844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Hindi voice call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73659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23F"/>
                </a:solidFill>
                <a:latin typeface="Consolas"/>
              </a:rPr>
              <a:t>-&gt;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56832" y="4352544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84848" y="4462272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Next.js Map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4848" y="488289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28 zones realtime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36208" y="603504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56832" y="5650992"/>
            <a:ext cx="2331720" cy="107899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84848" y="5760720"/>
            <a:ext cx="2103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Farmer Phone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84848" y="618134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872A8"/>
                </a:solidFill>
                <a:latin typeface="Calibri Light"/>
              </a:rPr>
              <a:t>Feature phone  no app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17152" y="2487168"/>
            <a:ext cx="2670048" cy="1920240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2606040"/>
            <a:ext cx="24688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 Light"/>
              </a:rPr>
              <a:t>Farmer's Phone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31089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No app needed
No internet
Just a 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324612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onsolas"/>
              </a:rPr>
              <a:t>-&gt;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07/12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57200"/>
            <a:ext cx="2423160" cy="685800"/>
          </a:xfrm>
          <a:prstGeom prst="roundRect">
            <a:avLst/>
          </a:prstGeom>
          <a:gradFill>
            <a:gsLst>
              <a:gs pos="0">
                <a:srgbClr val="cc0022"/>
              </a:gs>
              <a:gs pos="100000">
                <a:srgbClr val="880011"/>
              </a:gs>
            </a:gsLst>
            <a:lin ang="10800000" scaled="0"/>
          </a:gradFill>
          <a:ln>
            <a:noFill/>
          </a:ln>
          <a:effectLst>
            <a:outerShdw blurRad="63500" dist="30000" dir="5400000" algn="ctr" rotWithShape="0">
              <a:srgbClr val="000000">
                <a:alpha val="5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512064"/>
            <a:ext cx="2240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2FF"/>
                </a:solidFill>
                <a:latin typeface="Consolas"/>
              </a:rPr>
              <a:t>[ LIVE DEMO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7248" y="457200"/>
            <a:ext cx="73152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22.6 seconds.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7248" y="126187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onsolas"/>
              </a:rPr>
              <a:t>May 10, 2024  |  Kp = 9.0  |  G5 EXTREME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55648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920240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T+0s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1755648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9344" y="1920240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2E2FF"/>
                </a:solidFill>
                <a:latin typeface="Consolas"/>
              </a:rPr>
              <a:t>NOMINAL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755648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1920240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Monitoring active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" y="2414015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2551176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715768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T+3s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2551176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09344" y="2715768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3F"/>
                </a:solidFill>
                <a:latin typeface="Consolas"/>
              </a:rPr>
              <a:t>CME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2551176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94176" y="2715768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X-class flare detected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" y="3209544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1480" y="3346704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511296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T+5s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08760" y="3346704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9344" y="3511296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4A"/>
                </a:solidFill>
                <a:latin typeface="Consolas"/>
              </a:rPr>
              <a:t>Kp = 9.0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66160" y="3346704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94176" y="3511296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EXTREME  G5  confirmed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" y="4005072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11480" y="4142231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4306823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T+14s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08760" y="4142231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7A0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09344" y="4306823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2D4A"/>
                </a:solidFill>
                <a:latin typeface="Consolas"/>
              </a:rPr>
              <a:t>MAP 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66160" y="4142231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94176" y="4306823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All 28 zones -&gt; 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6112" y="4800599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11480" y="4937760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5102352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T+17s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508760" y="4937760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663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609344" y="5102352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35"/>
                </a:solidFill>
                <a:latin typeface="Consolas"/>
              </a:rPr>
              <a:t>ALERTS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566160" y="4937760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94176" y="5102352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28 DISCOMs  +  12,400 farmers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" y="5596128"/>
            <a:ext cx="18288" cy="137160"/>
          </a:xfrm>
          <a:prstGeom prst="rect">
            <a:avLst/>
          </a:prstGeom>
          <a:solidFill>
            <a:srgbClr val="6872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1480" y="5733288"/>
            <a:ext cx="987552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5897879"/>
            <a:ext cx="868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FF"/>
                </a:solidFill>
                <a:latin typeface="Consolas"/>
              </a:rPr>
              <a:t>T+20s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508760" y="5733288"/>
            <a:ext cx="1938528" cy="6583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9344" y="5897879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CALL LIVE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566160" y="5733288"/>
            <a:ext cx="2788920" cy="65836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94176" y="5897879"/>
            <a:ext cx="257860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Hindi rings  +  recording proof</a:t>
            </a:r>
          </a:p>
        </p:txBody>
      </p:sp>
      <p:pic>
        <p:nvPicPr>
          <p:cNvPr id="50" name="Picture 49" descr="06_demo_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1627632"/>
            <a:ext cx="5349240" cy="3346704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6601968" y="1627632"/>
            <a:ext cx="5349240" cy="3346704"/>
          </a:xfrm>
          <a:prstGeom prst="rect">
            <a:avLst/>
          </a:prstGeom>
          <a:noFill/>
          <a:ln w="2540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1968" y="5047488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2D4A"/>
                </a:solidFill>
                <a:latin typeface="Consolas"/>
              </a:rPr>
              <a:t>India map: all 28 DISCOMs in RED  |  Alerts firing in parallel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120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23F"/>
                </a:solidFill>
                <a:latin typeface="Consolas"/>
              </a:rPr>
              <a:t>22.6s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07592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demo runtime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51460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2432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4.5h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10712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warning window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17720" y="6400800"/>
            <a:ext cx="1965960" cy="38404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27448" y="647395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F88"/>
                </a:solidFill>
                <a:latin typeface="Consolas"/>
              </a:rPr>
              <a:t>LIVE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13831" y="647395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872A8"/>
                </a:solidFill>
                <a:latin typeface="Calibri Light"/>
              </a:rPr>
              <a:t>Vercel + Railway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FF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STORM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08/12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21 years of storms.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872A8"/>
                </a:solidFill>
                <a:latin typeface="Calibri Light"/>
              </a:rPr>
              <a:t>KAVACH applied retroactively to every major Indian geomagnetic event since 2003.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8288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116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Consolas"/>
              </a:rPr>
              <a:t>2003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18288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20116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Halloween Superstorm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76288" y="18288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67728" y="20116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9.0+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49056" y="18288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40496" y="19933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8h avg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79024" y="18288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70464" y="20116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6B35"/>
                </a:solidFill>
                <a:latin typeface="Consolas"/>
              </a:rPr>
              <a:t>294 alerts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" y="27432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260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FF"/>
                </a:solidFill>
                <a:latin typeface="Consolas"/>
              </a:rPr>
              <a:t>2015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25880" y="27432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29260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St. Patrick's Day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76288" y="27432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29260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8.0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49056" y="27432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0496" y="29077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6h avg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79024" y="27432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70464" y="29260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FF"/>
                </a:solidFill>
                <a:latin typeface="Consolas"/>
              </a:rPr>
              <a:t>216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7472" y="36576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D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8404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D23F"/>
                </a:solidFill>
                <a:latin typeface="Consolas"/>
              </a:rPr>
              <a:t>2017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36576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63040" y="3840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2FF"/>
                </a:solidFill>
                <a:latin typeface="Calibri Light"/>
              </a:rPr>
              <a:t>September X9.3 Flare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76288" y="36576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8" y="38404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8.0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49056" y="36576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822191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5h avg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79024" y="36576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70464" y="38404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23F"/>
                </a:solidFill>
                <a:latin typeface="Consolas"/>
              </a:rPr>
              <a:t>192 alerts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7472" y="4572000"/>
            <a:ext cx="86868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FF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754880"/>
            <a:ext cx="841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2D4A"/>
                </a:solidFill>
                <a:latin typeface="Consolas"/>
              </a:rPr>
              <a:t>2024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325880" y="4572000"/>
            <a:ext cx="5440680" cy="749808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47548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2D4A"/>
                </a:solidFill>
                <a:latin typeface="Calibri Light"/>
              </a:rPr>
              <a:t>May G5  [SOURCE]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76288" y="4572000"/>
            <a:ext cx="146304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67728" y="4754880"/>
            <a:ext cx="13167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872A8"/>
                </a:solidFill>
                <a:latin typeface="Consolas"/>
              </a:rPr>
              <a:t>Kp 9.0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49056" y="4572000"/>
            <a:ext cx="1920240" cy="749808"/>
          </a:xfrm>
          <a:prstGeom prst="roundRect">
            <a:avLst/>
          </a:prstGeom>
          <a:solidFill>
            <a:srgbClr val="01140A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40496" y="4736592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FF88"/>
                </a:solidFill>
                <a:latin typeface="Consolas"/>
              </a:rPr>
              <a:t>4.5h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479024" y="4572000"/>
            <a:ext cx="1371600" cy="74980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70464" y="4754880"/>
            <a:ext cx="1188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2D4A"/>
                </a:solidFill>
                <a:latin typeface="Consolas"/>
              </a:rPr>
              <a:t>145 alerts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7472" y="1572768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YEAR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25880" y="1572768"/>
            <a:ext cx="5440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STORM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1572768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Kp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49056" y="157276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WARNING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79024" y="157276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872A8"/>
                </a:solidFill>
                <a:latin typeface="Consolas"/>
              </a:rPr>
              <a:t>ALERTS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57200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2D4A"/>
                </a:solidFill>
                <a:latin typeface="Consolas"/>
              </a:rPr>
              <a:t>847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total alerts fired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97680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07408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23F"/>
                </a:solidFill>
                <a:latin typeface="Consolas"/>
              </a:rPr>
              <a:t>12,400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subscribers per storm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47888" y="5742432"/>
            <a:ext cx="3749039" cy="91440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57616" y="5833872"/>
            <a:ext cx="354787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FF88"/>
                </a:solidFill>
                <a:latin typeface="Consolas"/>
              </a:rPr>
              <a:t>6h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8" y="6336792"/>
            <a:ext cx="358444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alibri Light"/>
              </a:rPr>
              <a:t>average warning window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DAILY SHIELD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09/12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7772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365 days a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872A8"/>
                </a:solidFill>
                <a:latin typeface="Calibri Light"/>
              </a:rPr>
              <a:t>Space Weather Score  |  6:30 AM IST  |  Hindi + 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828800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7" y="1920240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Consolas"/>
              </a:rPr>
              <a:t>0-100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1554480" y="1956816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19" y="1901952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Space Weather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304288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India's space weather AQI
Green 80+ = normal ops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724912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7" y="2816352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GPS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852928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19" y="2798064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GPS Accuracy Forecast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3200400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Precision ag tractors
Fishing boat GPS alert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621024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3712463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D23F"/>
                </a:solidFill>
                <a:latin typeface="Consolas"/>
              </a:rPr>
              <a:t>GRID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749039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19" y="3694176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DISCOM Risk Zones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4096512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Per-zone transformer risk
Operator dashboard feed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517136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7" y="4608575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FF88"/>
                </a:solidFill>
                <a:latin typeface="Consolas"/>
              </a:rPr>
              <a:t>AUR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4645151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19" y="4590288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Aurora Visibility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4992623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6 Himalayan locations
Kp-based prediction nightly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5413248"/>
            <a:ext cx="5596128" cy="786384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7" y="5504688"/>
            <a:ext cx="960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2E2FF"/>
                </a:solidFill>
                <a:latin typeface="Consolas"/>
              </a:rPr>
              <a:t>LANG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554480" y="5541264"/>
            <a:ext cx="18288" cy="54864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19" y="5486400"/>
            <a:ext cx="417880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2E2FF"/>
                </a:solidFill>
                <a:latin typeface="Calibri Light"/>
              </a:rPr>
              <a:t>Bilingual 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19" y="5888736"/>
            <a:ext cx="41788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Hindi for farmers
English for DISCOM operators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566928"/>
            <a:ext cx="5760720" cy="6053328"/>
          </a:xfrm>
          <a:prstGeom prst="roundRect">
            <a:avLst/>
          </a:prstGeom>
          <a:gradFill>
            <a:gsLst>
              <a:gs pos="0">
                <a:srgbClr val="020c1c"/>
              </a:gs>
              <a:gs pos="100000">
                <a:srgbClr val="03101e"/>
              </a:gs>
            </a:gsLst>
            <a:lin ang="10800000" scaled="0"/>
          </a:gradFill>
          <a:ln w="19050">
            <a:solidFill>
              <a:srgbClr val="00D4FF"/>
            </a:solidFill>
          </a:ln>
          <a:effectLst>
            <a:outerShdw blurRad="63500" dist="30000" dir="5400000" algn="ctr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566928"/>
            <a:ext cx="576072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6208" y="621792"/>
            <a:ext cx="5760720" cy="438912"/>
          </a:xfrm>
          <a:prstGeom prst="rect">
            <a:avLst/>
          </a:prstGeom>
          <a:solidFill>
            <a:srgbClr val="08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67665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onsolas"/>
              </a:rPr>
              <a:t>KAVACH  [ 06:30 AM IST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25328" y="67665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FF88"/>
                </a:solidFill>
                <a:latin typeface="Consolas"/>
              </a:rPr>
              <a:t>NOMINAL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19088" y="1188720"/>
            <a:ext cx="5413248" cy="1737360"/>
          </a:xfrm>
          <a:prstGeom prst="roundRect">
            <a:avLst/>
          </a:prstGeom>
          <a:solidFill>
            <a:srgbClr val="011006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280160"/>
            <a:ext cx="5257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FF88"/>
                </a:solidFill>
                <a:latin typeface="Consolas"/>
              </a:rPr>
              <a:t>95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304288"/>
            <a:ext cx="5257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FF88"/>
                </a:solidFill>
                <a:latin typeface="Consolas"/>
              </a:rPr>
              <a:t>/ 100   SHIELD NOMINAL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37376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GPS OK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84464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57616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GRID OK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31552" y="3090672"/>
            <a:ext cx="1737360" cy="34747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04704" y="3163824"/>
            <a:ext cx="1600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AURORA LOW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19088" y="3584448"/>
            <a:ext cx="5413248" cy="2359152"/>
          </a:xfrm>
          <a:prstGeom prst="roundRect">
            <a:avLst/>
          </a:prstGeom>
          <a:solidFill>
            <a:srgbClr val="020E1A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28816" y="3694176"/>
            <a:ext cx="52120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FF88"/>
                </a:solidFill>
                <a:latin typeface="Consolas"/>
              </a:rPr>
              <a:t>KAVACH सुरक्षा संदेश
तारीख: आज
आज का स्कोर: 95 / 100
GPS: सामान्य  |  ग्रिड: सुरक्षित
कोई सौर तूफान नहीं
KAVACH सक्रिय है।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19088" y="6053328"/>
            <a:ext cx="5413248" cy="384048"/>
          </a:xfrm>
          <a:prstGeom prst="roundRect">
            <a:avLst/>
          </a:prstGeom>
          <a:solidFill>
            <a:srgbClr val="005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92240" y="6108192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0FF88"/>
                </a:solidFill>
                <a:latin typeface="Consolas"/>
              </a:rPr>
              <a:t>INDIA'S SPACE WEATHER AQI  |  DAILY AT 06:30 IST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10/12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457200"/>
            <a:ext cx="11384280" cy="960120"/>
          </a:xfrm>
          <a:prstGeom prst="roundRect">
            <a:avLst/>
          </a:prstGeom>
          <a:gradFill>
            <a:gsLst>
              <a:gs pos="0">
                <a:srgbClr val="011408"/>
              </a:gs>
              <a:gs pos="100000">
                <a:srgbClr val="001c08"/>
              </a:gs>
            </a:gsLst>
            <a:lin ang="0" scaled="0"/>
          </a:gradFill>
          <a:ln w="2540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53035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FF88"/>
                </a:solidFill>
                <a:latin typeface="Consolas"/>
              </a:rPr>
              <a:t>600x  ROI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872A8"/>
                </a:solidFill>
                <a:latin typeface="Calibri Light"/>
              </a:rPr>
              <a:t>Rs.5L/month subscription  protects  Rs.3,000 Cr in transformer assets per DISCOM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084831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6771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2FF"/>
                </a:solidFill>
                <a:latin typeface="Consolas"/>
              </a:rPr>
              <a:t>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2084831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226771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Citizens / Farmers / Fishermen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2084831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98464" y="226771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Public alerts + Hindi voice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85248" y="2084831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226771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2E2FF"/>
                </a:solidFill>
                <a:latin typeface="Consolas"/>
              </a:rPr>
              <a:t>Rs.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9067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27355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onsolas"/>
              </a:rPr>
              <a:t>DISCOM API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68880" y="309067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96896" y="327355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28 Electricity Utilities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0448" y="309067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98464" y="327355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72h forecast + SCADA integration + Portal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85248" y="309067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327355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D4FF"/>
                </a:solidFill>
                <a:latin typeface="Consolas"/>
              </a:rPr>
              <a:t>Rs.2-5L/month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09651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7939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onsolas"/>
              </a:rPr>
              <a:t>5 DISCOMs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68880" y="409651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96896" y="427939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Year 1 anchor contracts (target)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70448" y="409651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98464" y="427939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Pilot -&gt; ARR target -&gt; Round 2 expansion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85248" y="409651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0" y="427939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FF88"/>
                </a:solidFill>
                <a:latin typeface="Consolas"/>
              </a:rPr>
              <a:t>Rs.1.8Cr/year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102352"/>
            <a:ext cx="1938528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285232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3F"/>
                </a:solidFill>
                <a:latin typeface="Consolas"/>
              </a:rPr>
              <a:t>PHASE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0" y="5102352"/>
            <a:ext cx="3291840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96896" y="5285232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2FF"/>
                </a:solidFill>
                <a:latin typeface="Calibri Light"/>
              </a:rPr>
              <a:t>Aviation / Telecom / Insurance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70448" y="5102352"/>
            <a:ext cx="4005072" cy="822960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98464" y="5285232"/>
            <a:ext cx="378561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DGCA + BSNL + LIC APIs as risk oracles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85248" y="5102352"/>
            <a:ext cx="1828800" cy="822960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5285232"/>
            <a:ext cx="16824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23F"/>
                </a:solidFill>
                <a:latin typeface="Consolas"/>
              </a:rPr>
              <a:t>TBD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1722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00FF88"/>
                </a:solidFill>
                <a:latin typeface="Consolas"/>
              </a:rPr>
              <a:t>Rs.3,000 Cr  [transformer asset exposure]  vs  Rs.5L  [monthly subscription]  =  600x protection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053328"/>
            <a:ext cx="11384280" cy="54864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11480" y="6053328"/>
            <a:ext cx="11365992" cy="54864"/>
          </a:xfrm>
          <a:prstGeom prst="rect">
            <a:avLst/>
          </a:prstGeom>
          <a:gradFill>
            <a:gsLst>
              <a:gs pos="0">
                <a:srgbClr val="00ff88"/>
              </a:gs>
              <a:gs pos="100000">
                <a:srgbClr val="004422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11/12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2E2FF"/>
                </a:solidFill>
                <a:latin typeface="Calibri Light"/>
              </a:rPr>
              <a:t>Round 2 / Tokyo.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353312"/>
            <a:ext cx="11411712" cy="1115568"/>
          </a:xfrm>
          <a:prstGeom prst="roundRect">
            <a:avLst/>
          </a:prstGeom>
          <a:gradFill>
            <a:gsLst>
              <a:gs pos="0">
                <a:srgbClr val="011408"/>
              </a:gs>
              <a:gs pos="100000">
                <a:srgbClr val="001c08"/>
              </a:gs>
            </a:gsLst>
            <a:lin ang="8100000" scaled="0"/>
          </a:gradFill>
          <a:ln w="19050">
            <a:solidFill>
              <a:srgbClr val="00FF8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048" y="1353312"/>
            <a:ext cx="11411712" cy="5029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264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FF88"/>
                </a:solidFill>
                <a:latin typeface="Consolas"/>
              </a:rPr>
              <a:t>FLAGSHIP  #1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0784"/>
            <a:ext cx="110642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FF88"/>
                </a:solidFill>
                <a:latin typeface="Calibri Light"/>
              </a:rPr>
              <a:t>Multi-Language:  Hindi  +  Tamil  +  Telugu  +  Marathi  +  Bengali  +  Punjabi  +  Gujarati  +  Kannada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67004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977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onsolas"/>
              </a:rPr>
              <a:t>VEDAS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91056" y="279806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277977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ISRO VEDAS 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0784" y="320040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India-specific ionospheric
scintillation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67004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77977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23F"/>
                </a:solidFill>
                <a:latin typeface="Consolas"/>
              </a:rPr>
              <a:t>WA/SMS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33488" y="279806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277977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23F"/>
                </a:solidFill>
                <a:latin typeface="Calibri Light"/>
              </a:rPr>
              <a:t>WhatsApp + SMS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3216" y="320040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Multi-channel delivery
zero missed notifications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17880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538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28853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F88"/>
                </a:solidFill>
                <a:latin typeface="Consolas"/>
              </a:rPr>
              <a:t>REPLY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91056" y="430682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00784" y="428853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F88"/>
                </a:solidFill>
                <a:latin typeface="Calibri Light"/>
              </a:rPr>
              <a:t>Two-Way Voice Reply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470916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Farmer presses 1 to confirm
2 for help — KAVACH escalates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4178808"/>
            <a:ext cx="5468112" cy="1353312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5522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288536"/>
            <a:ext cx="960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35"/>
                </a:solidFill>
                <a:latin typeface="Consolas"/>
              </a:rPr>
              <a:t>CME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33488" y="4306824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4288536"/>
            <a:ext cx="40050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 Light"/>
              </a:rPr>
              <a:t>CME Transit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4709160"/>
            <a:ext cx="40050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872A8"/>
                </a:solidFill>
                <a:latin typeface="Calibri Light"/>
              </a:rPr>
              <a:t>4-18h precise countdown
per-zone impact window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5687568"/>
            <a:ext cx="11411712" cy="896112"/>
          </a:xfrm>
          <a:prstGeom prst="roundRect">
            <a:avLst/>
          </a:prstGeom>
          <a:solidFill>
            <a:srgbClr val="061222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onsolas"/>
              </a:rPr>
              <a:t>SaaS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19072" y="5779008"/>
            <a:ext cx="22860" cy="502920"/>
          </a:xfrm>
          <a:prstGeom prst="rect">
            <a:avLst/>
          </a:prstGeom>
          <a:solidFill>
            <a:srgbClr val="00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57607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Calibri Light"/>
              </a:rPr>
              <a:t>DISCOM Operator 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6163056"/>
            <a:ext cx="9784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872A8"/>
                </a:solidFill>
                <a:latin typeface="Calibri Light"/>
              </a:rPr>
              <a:t>Operator-facing SaaS portal  |  Custom alerting  |  SCADA integration  |  Contractual ARR path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81360" y="6510528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872A8"/>
                </a:solidFill>
                <a:latin typeface="Consolas"/>
              </a:rPr>
              <a:t>12/12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6576"/>
            <a:ext cx="12188952" cy="6784848"/>
          </a:xfrm>
          <a:prstGeom prst="rect">
            <a:avLst/>
          </a:prstGeom>
          <a:gradFill>
            <a:gsLst>
              <a:gs pos="0">
                <a:srgbClr val="030812"/>
              </a:gs>
              <a:gs pos="100000">
                <a:srgbClr val="041628"/>
              </a:gs>
            </a:gsLst>
            <a:lin ang="87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FF"/>
                </a:solidFill>
                <a:latin typeface="Consolas"/>
              </a:rPr>
              <a:t>FAR AWAY 2026  |  TEAM 404_SHINOBI  |  SPACE &amp; AEROSPACE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658368"/>
            <a:ext cx="8686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0" b="1" i="0">
                <a:solidFill>
                  <a:srgbClr val="E2E2FF"/>
                </a:solidFill>
                <a:latin typeface="Calibri Light"/>
              </a:rPr>
              <a:t>KAVACH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2633472"/>
            <a:ext cx="6858000" cy="45720"/>
          </a:xfrm>
          <a:prstGeom prst="rect">
            <a:avLst/>
          </a:prstGeom>
          <a:gradFill>
            <a:gsLst>
              <a:gs pos="0">
                <a:srgbClr val="00d4ff"/>
              </a:gs>
              <a:gs pos="100000">
                <a:srgbClr val="003355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88920"/>
            <a:ext cx="9601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872A8"/>
                </a:solidFill>
                <a:latin typeface="Calibri Light"/>
              </a:rPr>
              <a:t>"It called the farmer before the lights went out."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493008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9319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 Light"/>
                <a:hlinkClick r:id="rId2"/>
              </a:rPr>
              <a:t>frontend-rust-xi-79.vercel.app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493008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5C8A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35844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GITHUB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3931920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D4FF"/>
                </a:solidFill>
                <a:latin typeface="Calibri Light"/>
                <a:hlinkClick r:id="rId3"/>
              </a:rPr>
              <a:t>github.com/VibhorJain1974/kavach-faraway-2026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754879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002A44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484631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19379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872A8"/>
                </a:solidFill>
                <a:latin typeface="Calibri Light"/>
                <a:hlinkClick r:id="rId4"/>
              </a:rPr>
              <a:t>jvibhor202@gmail.com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754879"/>
            <a:ext cx="5596128" cy="1115568"/>
          </a:xfrm>
          <a:prstGeom prst="roundRect">
            <a:avLst/>
          </a:prstGeom>
          <a:solidFill>
            <a:srgbClr val="081830"/>
          </a:solidFill>
          <a:ln w="12700">
            <a:solidFill>
              <a:srgbClr val="886A00"/>
            </a:solidFill>
          </a:ln>
          <a:effectLst>
            <a:outerShdw blurRad="63500" dist="30000" dir="5400000" algn="ctr" rotWithShape="0">
              <a:srgbClr val="000000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846319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872A8"/>
                </a:solidFill>
                <a:latin typeface="Consolas"/>
              </a:rPr>
              <a:t>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5193792"/>
            <a:ext cx="53035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D23F"/>
                </a:solidFill>
                <a:latin typeface="Calibri Light"/>
              </a:rPr>
              <a:t>404_SHINOBI  |  FAR AWAY 2026</a:t>
            </a:r>
          </a:p>
        </p:txBody>
      </p:sp>
      <p:pic>
        <p:nvPicPr>
          <p:cNvPr id="21" name="Picture 20" descr="07_demo_compl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201168"/>
            <a:ext cx="2971800" cy="185623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006840" y="201168"/>
            <a:ext cx="2971800" cy="1856231"/>
          </a:xfrm>
          <a:prstGeom prst="rect">
            <a:avLst/>
          </a:prstGeom>
          <a:noFill/>
          <a:ln w="1905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2121408"/>
            <a:ext cx="2944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00FF88"/>
                </a:solidFill>
                <a:latin typeface="Consolas"/>
              </a:rPr>
              <a:t>demo complete  |  all 28 zones warned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996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872A8"/>
                </a:solidFill>
                <a:latin typeface="Consolas"/>
              </a:rPr>
              <a:t>Deploy: Vercel + Railway  |  Voice: Twilio + Amazon Polly Aditi  |  Data: NASA DONKI + NOAA SWPC + Local archive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214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