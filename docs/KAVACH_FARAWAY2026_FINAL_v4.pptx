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frontend-rust-xi-79.vercel.app" TargetMode="External"/><Relationship Id="rId3" Type="http://schemas.openxmlformats.org/officeDocument/2006/relationships/hyperlink" Target="https://github.com/VibhorJain1974/kavach-faraway-2026" TargetMode="External"/><Relationship Id="rId4" Type="http://schemas.openxmlformats.org/officeDocument/2006/relationships/hyperlink" Target="mailto:jvibhor202@gmail.com" TargetMode="External"/><Relationship Id="rId5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8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881360" y="6510528"/>
            <a:ext cx="1188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872A8"/>
                </a:solidFill>
                <a:latin typeface="Consolas"/>
              </a:rPr>
              <a:t>01/12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6576"/>
            <a:ext cx="12188952" cy="6784848"/>
          </a:xfrm>
          <a:prstGeom prst="rect">
            <a:avLst/>
          </a:prstGeom>
          <a:gradFill>
            <a:gsLst>
              <a:gs pos="0">
                <a:srgbClr val="030812"/>
              </a:gs>
              <a:gs pos="100000">
                <a:srgbClr val="041628"/>
              </a:gs>
            </a:gsLst>
            <a:lin ang="87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36576"/>
            <a:ext cx="12188952" cy="420624"/>
          </a:xfrm>
          <a:prstGeom prst="rect">
            <a:avLst/>
          </a:prstGeom>
          <a:solidFill>
            <a:srgbClr val="020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9144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D4FF"/>
                </a:solidFill>
                <a:latin typeface="Consolas"/>
              </a:rPr>
              <a:t>FAR AWAY 2026  |  SPACE &amp; AEROSPACE  |  TEAM 404_SHINOBI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91440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872A8"/>
                </a:solidFill>
                <a:latin typeface="Consolas"/>
              </a:rPr>
              <a:t>14 JUN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" y="658368"/>
            <a:ext cx="7315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0" b="1" i="0">
                <a:solidFill>
                  <a:srgbClr val="E2E2FF"/>
                </a:solidFill>
                <a:latin typeface="Calibri Light"/>
              </a:rPr>
              <a:t>KAVACH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" y="2633472"/>
            <a:ext cx="6858000" cy="45720"/>
          </a:xfrm>
          <a:prstGeom prst="rect">
            <a:avLst/>
          </a:prstGeom>
          <a:gradFill>
            <a:gsLst>
              <a:gs pos="0">
                <a:srgbClr val="00d4ff"/>
              </a:gs>
              <a:gs pos="100000">
                <a:srgbClr val="004466"/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" y="2788920"/>
            <a:ext cx="8686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1">
                <a:solidFill>
                  <a:srgbClr val="00D4FF"/>
                </a:solidFill>
                <a:latin typeface="Calibri Light"/>
              </a:rPr>
              <a:t>कवच  —  Autonomous Space Weather Shield for India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" y="3337560"/>
            <a:ext cx="89611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6872A8"/>
                </a:solidFill>
                <a:latin typeface="Calibri Light"/>
              </a:rPr>
              <a:t>"It called the farmer before the lights went out."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4114800"/>
            <a:ext cx="3611880" cy="1417320"/>
          </a:xfrm>
          <a:prstGeom prst="roundRect">
            <a:avLst/>
          </a:prstGeom>
          <a:solidFill>
            <a:srgbClr val="081830"/>
          </a:solidFill>
          <a:ln w="12700">
            <a:solidFill>
              <a:srgbClr val="002A44"/>
            </a:solidFill>
          </a:ln>
          <a:effectLst>
            <a:outerShdw blurRad="63500" dist="30000" dir="5400000" algn="ctr" rotWithShape="0">
              <a:srgbClr val="000000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4206240"/>
            <a:ext cx="3410712" cy="8787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00D4FF"/>
                </a:solidFill>
                <a:latin typeface="Consolas"/>
              </a:rPr>
              <a:t>28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036058"/>
            <a:ext cx="3447288" cy="4960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872A8"/>
                </a:solidFill>
                <a:latin typeface="Calibri Light"/>
              </a:rPr>
              <a:t>DISCOMs warned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70832" y="4114800"/>
            <a:ext cx="3611880" cy="1417320"/>
          </a:xfrm>
          <a:prstGeom prst="roundRect">
            <a:avLst/>
          </a:prstGeom>
          <a:solidFill>
            <a:srgbClr val="081830"/>
          </a:solidFill>
          <a:ln w="12700">
            <a:solidFill>
              <a:srgbClr val="002A44"/>
            </a:solidFill>
          </a:ln>
          <a:effectLst>
            <a:outerShdw blurRad="63500" dist="30000" dir="5400000" algn="ctr" rotWithShape="0">
              <a:srgbClr val="000000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0560" y="4206240"/>
            <a:ext cx="3410712" cy="8787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00FF88"/>
                </a:solidFill>
                <a:latin typeface="Consolas"/>
              </a:rPr>
              <a:t>12,400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62272" y="5036058"/>
            <a:ext cx="3447288" cy="4960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872A8"/>
                </a:solidFill>
                <a:latin typeface="Calibri Light"/>
              </a:rPr>
              <a:t>Farmers per storm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84464" y="4114800"/>
            <a:ext cx="3611880" cy="1417320"/>
          </a:xfrm>
          <a:prstGeom prst="roundRect">
            <a:avLst/>
          </a:prstGeom>
          <a:solidFill>
            <a:srgbClr val="081830"/>
          </a:solidFill>
          <a:ln w="12700">
            <a:solidFill>
              <a:srgbClr val="002A44"/>
            </a:solidFill>
          </a:ln>
          <a:effectLst>
            <a:outerShdw blurRad="63500" dist="30000" dir="5400000" algn="ctr" rotWithShape="0">
              <a:srgbClr val="000000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94192" y="4206240"/>
            <a:ext cx="3410712" cy="8787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D23F"/>
                </a:solidFill>
                <a:latin typeface="Consolas"/>
              </a:rPr>
              <a:t>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75904" y="5036058"/>
            <a:ext cx="3447288" cy="4960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872A8"/>
                </a:solidFill>
                <a:latin typeface="Calibri Light"/>
              </a:rPr>
              <a:t>Human triggers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5806440"/>
            <a:ext cx="5349240" cy="347472"/>
          </a:xfrm>
          <a:prstGeom prst="roundRect">
            <a:avLst/>
          </a:prstGeom>
          <a:solidFill>
            <a:srgbClr val="020C1C"/>
          </a:solidFill>
          <a:ln w="12700">
            <a:solidFill>
              <a:srgbClr val="005C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3504" y="5852160"/>
            <a:ext cx="5166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D4FF"/>
                </a:solidFill>
                <a:latin typeface="Consolas"/>
              </a:rPr>
              <a:t>LIVE: frontend-rust-xi-79.vercel.app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61888" y="5806440"/>
            <a:ext cx="5779008" cy="347472"/>
          </a:xfrm>
          <a:prstGeom prst="roundRect">
            <a:avLst/>
          </a:prstGeom>
          <a:solidFill>
            <a:srgbClr val="020C1C"/>
          </a:solidFill>
          <a:ln w="12700">
            <a:solidFill>
              <a:srgbClr val="00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08192" y="5852160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872A8"/>
                </a:solidFill>
                <a:latin typeface="Consolas"/>
              </a:rPr>
              <a:t>REPO: github.com/VibhorJain1974/kavach-faraway-2026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821424"/>
            <a:ext cx="12188952" cy="2743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8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D4FF"/>
                </a:solidFill>
                <a:latin typeface="Consolas"/>
              </a:rPr>
              <a:t>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81360" y="6510528"/>
            <a:ext cx="1188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872A8"/>
                </a:solidFill>
                <a:latin typeface="Consolas"/>
              </a:rPr>
              <a:t>02/12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FF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800" b="1" i="0">
                <a:solidFill>
                  <a:srgbClr val="FF2D4A"/>
                </a:solidFill>
                <a:latin typeface="Calibri Light"/>
              </a:rPr>
              <a:t>Zero Warning.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508760"/>
            <a:ext cx="11430000" cy="502920"/>
          </a:xfrm>
          <a:prstGeom prst="roundRect">
            <a:avLst/>
          </a:prstGeom>
          <a:gradFill>
            <a:gsLst>
              <a:gs pos="0">
                <a:srgbClr val="4a000e"/>
              </a:gs>
              <a:gs pos="100000">
                <a:srgbClr val="1a0008"/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1591056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2D4A"/>
                </a:solidFill>
                <a:latin typeface="Consolas"/>
              </a:rPr>
              <a:t>May 10-11, 2024  |  Kp = 9.0  |  G5 EXTREME  |  India's grid nearly failed  |  0 warnings issued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240280"/>
            <a:ext cx="3584448" cy="3246120"/>
          </a:xfrm>
          <a:prstGeom prst="roundRect">
            <a:avLst/>
          </a:prstGeom>
          <a:solidFill>
            <a:srgbClr val="081830"/>
          </a:solidFill>
          <a:ln w="19050">
            <a:solidFill>
              <a:srgbClr val="7A0018"/>
            </a:solidFill>
          </a:ln>
          <a:effectLst>
            <a:outerShdw blurRad="63500" dist="30000" dir="5400000" algn="ctr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37744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2D4A"/>
                </a:solidFill>
                <a:latin typeface="Consolas"/>
              </a:rPr>
              <a:t>!!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01752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2D4A"/>
                </a:solidFill>
                <a:latin typeface="Calibri Light"/>
              </a:rPr>
              <a:t>No Indian System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456432"/>
            <a:ext cx="32004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E2E2FF"/>
                </a:solidFill>
                <a:latin typeface="Calibri Light"/>
              </a:rPr>
              <a:t>28 DISCOMs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886200"/>
            <a:ext cx="32004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872A8"/>
                </a:solidFill>
                <a:latin typeface="Calibri Light"/>
              </a:rPr>
              <a:t>Zero automated alerts
across all power utilities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70832" y="2240280"/>
            <a:ext cx="3584448" cy="3246120"/>
          </a:xfrm>
          <a:prstGeom prst="roundRect">
            <a:avLst/>
          </a:prstGeom>
          <a:solidFill>
            <a:srgbClr val="081830"/>
          </a:solidFill>
          <a:ln w="19050">
            <a:solidFill>
              <a:srgbClr val="886A00"/>
            </a:solidFill>
          </a:ln>
          <a:effectLst>
            <a:outerShdw blurRad="63500" dist="30000" dir="5400000" algn="ctr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53712" y="237744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D23F"/>
                </a:solidFill>
                <a:latin typeface="Consolas"/>
              </a:rPr>
              <a:t>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53712" y="301752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D23F"/>
                </a:solidFill>
                <a:latin typeface="Calibri Light"/>
              </a:rPr>
              <a:t>Wrong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53712" y="3456432"/>
            <a:ext cx="32004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E2E2FF"/>
                </a:solidFill>
                <a:latin typeface="Calibri Light"/>
              </a:rPr>
              <a:t>English-only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53712" y="3886200"/>
            <a:ext cx="32004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872A8"/>
                </a:solidFill>
                <a:latin typeface="Calibri Light"/>
              </a:rPr>
              <a:t>Internet-only western tools
useless at India's last mile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84464" y="2240280"/>
            <a:ext cx="3584448" cy="3246120"/>
          </a:xfrm>
          <a:prstGeom prst="roundRect">
            <a:avLst/>
          </a:prstGeom>
          <a:solidFill>
            <a:srgbClr val="081830"/>
          </a:solidFill>
          <a:ln w="19050">
            <a:solidFill>
              <a:srgbClr val="663300"/>
            </a:solidFill>
          </a:ln>
          <a:effectLst>
            <a:outerShdw blurRad="63500" dist="30000" dir="5400000" algn="ctr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67344" y="237744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6B35"/>
                </a:solidFill>
                <a:latin typeface="Consolas"/>
              </a:rPr>
              <a:t>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67344" y="301752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6B35"/>
                </a:solidFill>
                <a:latin typeface="Calibri Light"/>
              </a:rPr>
              <a:t>Feature Phone Gap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67344" y="3456432"/>
            <a:ext cx="32004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E2E2FF"/>
                </a:solidFill>
                <a:latin typeface="Calibri Light"/>
              </a:rPr>
              <a:t>300M farmers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67344" y="3886200"/>
            <a:ext cx="32004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872A8"/>
                </a:solidFill>
                <a:latin typeface="Calibri Light"/>
              </a:rPr>
              <a:t>No smartphone, no internet
no way to receive any warning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5715000"/>
            <a:ext cx="11384280" cy="658368"/>
          </a:xfrm>
          <a:prstGeom prst="roundRect">
            <a:avLst/>
          </a:prstGeom>
          <a:solidFill>
            <a:srgbClr val="020C1C"/>
          </a:solidFill>
          <a:ln w="12700">
            <a:solidFill>
              <a:srgbClr val="7A00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58064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FF2D4A"/>
                </a:solidFill>
                <a:latin typeface="Calibri Light"/>
              </a:rPr>
              <a:t>Rs.3,000 Cr transformer assets at risk every G5 event  |  4.5 hours of actionable warning window lost forever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821424"/>
            <a:ext cx="12188952" cy="27432"/>
          </a:xfrm>
          <a:prstGeom prst="rect">
            <a:avLst/>
          </a:prstGeom>
          <a:solidFill>
            <a:srgbClr val="FF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8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D4FF"/>
                </a:solidFill>
                <a:latin typeface="Consolas"/>
              </a:rPr>
              <a:t>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81360" y="6510528"/>
            <a:ext cx="1188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872A8"/>
                </a:solidFill>
                <a:latin typeface="Consolas"/>
              </a:rPr>
              <a:t>03/12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914400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800" b="1" i="0">
                <a:solidFill>
                  <a:srgbClr val="00D4FF"/>
                </a:solidFill>
                <a:latin typeface="Calibri Light"/>
              </a:rPr>
              <a:t>KAVACH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872A8"/>
                </a:solidFill>
                <a:latin typeface="Consolas"/>
              </a:rPr>
              <a:t>Autonomous  |  Real-time  |  Hindi voice  |  No human trigger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4048" y="2011680"/>
            <a:ext cx="1874519" cy="1261872"/>
          </a:xfrm>
          <a:prstGeom prst="roundRect">
            <a:avLst/>
          </a:prstGeom>
          <a:solidFill>
            <a:srgbClr val="081830"/>
          </a:solidFill>
          <a:ln w="12700">
            <a:solidFill>
              <a:srgbClr val="002A44"/>
            </a:solidFill>
          </a:ln>
          <a:effectLst>
            <a:outerShdw blurRad="63500" dist="30000" dir="5400000" algn="ctr" rotWithShape="0">
              <a:srgbClr val="000000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121408"/>
            <a:ext cx="170992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E2E2FF"/>
                </a:solidFill>
                <a:latin typeface="Calibri Light"/>
              </a:rPr>
              <a:t>NASA
DONKI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2788920"/>
            <a:ext cx="170992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872A8"/>
                </a:solidFill>
                <a:latin typeface="Consolas"/>
              </a:rPr>
              <a:t>15 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95144" y="2514600"/>
            <a:ext cx="3017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D4FF"/>
                </a:solidFill>
                <a:latin typeface="Consolas"/>
              </a:rPr>
              <a:t>-&gt;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578608" y="2011680"/>
            <a:ext cx="1874519" cy="1261872"/>
          </a:xfrm>
          <a:prstGeom prst="roundRect">
            <a:avLst/>
          </a:prstGeom>
          <a:solidFill>
            <a:srgbClr val="081830"/>
          </a:solidFill>
          <a:ln w="12700">
            <a:solidFill>
              <a:srgbClr val="002A44"/>
            </a:solidFill>
          </a:ln>
          <a:effectLst>
            <a:outerShdw blurRad="63500" dist="30000" dir="5400000" algn="ctr" rotWithShape="0">
              <a:srgbClr val="000000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70048" y="2121408"/>
            <a:ext cx="170992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E2E2FF"/>
                </a:solidFill>
                <a:latin typeface="Calibri Light"/>
              </a:rPr>
              <a:t>NOAA
SWPC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70048" y="2788920"/>
            <a:ext cx="170992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872A8"/>
                </a:solidFill>
                <a:latin typeface="Consolas"/>
              </a:rPr>
              <a:t>5 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9703" y="2514600"/>
            <a:ext cx="3017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D4FF"/>
                </a:solidFill>
                <a:latin typeface="Consolas"/>
              </a:rPr>
              <a:t>-&gt;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773168" y="2011680"/>
            <a:ext cx="1874519" cy="1261872"/>
          </a:xfrm>
          <a:prstGeom prst="roundRect">
            <a:avLst/>
          </a:prstGeom>
          <a:gradFill>
            <a:gsLst>
              <a:gs pos="0">
                <a:srgbClr val="001428"/>
              </a:gs>
              <a:gs pos="100000">
                <a:srgbClr val="002244"/>
              </a:gs>
            </a:gsLst>
            <a:lin ang="10800000" scaled="0"/>
          </a:gradFill>
          <a:ln w="12700">
            <a:solidFill>
              <a:srgbClr val="00D4FF"/>
            </a:solidFill>
          </a:ln>
          <a:effectLst>
            <a:outerShdw blurRad="63500" dist="30000" dir="5400000" algn="ctr" rotWithShape="0">
              <a:srgbClr val="000000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64607" y="2121408"/>
            <a:ext cx="170992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D4FF"/>
                </a:solidFill>
                <a:latin typeface="Calibri Light"/>
              </a:rPr>
              <a:t>KAVACH
Brain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64607" y="2788920"/>
            <a:ext cx="170992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0D4FF"/>
                </a:solidFill>
                <a:latin typeface="Consolas"/>
              </a:rPr>
              <a:t>FastAPI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84264" y="2514600"/>
            <a:ext cx="3017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D4FF"/>
                </a:solidFill>
                <a:latin typeface="Consolas"/>
              </a:rPr>
              <a:t>-&gt;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967727" y="2011680"/>
            <a:ext cx="1874519" cy="1261872"/>
          </a:xfrm>
          <a:prstGeom prst="roundRect">
            <a:avLst/>
          </a:prstGeom>
          <a:solidFill>
            <a:srgbClr val="081830"/>
          </a:solidFill>
          <a:ln w="12700">
            <a:solidFill>
              <a:srgbClr val="886A00"/>
            </a:solidFill>
          </a:ln>
          <a:effectLst>
            <a:outerShdw blurRad="63500" dist="30000" dir="5400000" algn="ctr" rotWithShape="0">
              <a:srgbClr val="000000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59167" y="2121408"/>
            <a:ext cx="170992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D23F"/>
                </a:solidFill>
                <a:latin typeface="Calibri Light"/>
              </a:rPr>
              <a:t>28
DISCOMs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59167" y="2788920"/>
            <a:ext cx="170992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872A8"/>
                </a:solidFill>
                <a:latin typeface="Consolas"/>
              </a:rPr>
              <a:t>warned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78823" y="2514600"/>
            <a:ext cx="3017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D4FF"/>
                </a:solidFill>
                <a:latin typeface="Consolas"/>
              </a:rPr>
              <a:t>-&gt;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62288" y="2011680"/>
            <a:ext cx="1874519" cy="1261872"/>
          </a:xfrm>
          <a:prstGeom prst="roundRect">
            <a:avLst/>
          </a:prstGeom>
          <a:solidFill>
            <a:srgbClr val="081830"/>
          </a:solidFill>
          <a:ln w="12700">
            <a:solidFill>
              <a:srgbClr val="005538"/>
            </a:solidFill>
          </a:ln>
          <a:effectLst>
            <a:outerShdw blurRad="63500" dist="30000" dir="5400000" algn="ctr" rotWithShape="0">
              <a:srgbClr val="000000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53728" y="2121408"/>
            <a:ext cx="170992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00FF88"/>
                </a:solidFill>
                <a:latin typeface="Calibri Light"/>
              </a:rPr>
              <a:t>Farmer
Phone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53728" y="2788920"/>
            <a:ext cx="170992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872A8"/>
                </a:solidFill>
                <a:latin typeface="Consolas"/>
              </a:rPr>
              <a:t>no app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3520440"/>
            <a:ext cx="3584448" cy="2331720"/>
          </a:xfrm>
          <a:prstGeom prst="roundRect">
            <a:avLst/>
          </a:prstGeom>
          <a:solidFill>
            <a:srgbClr val="061222"/>
          </a:solidFill>
          <a:ln w="12700">
            <a:solidFill>
              <a:srgbClr val="002A44"/>
            </a:solidFill>
          </a:ln>
          <a:effectLst>
            <a:outerShdw blurRad="63500" dist="30000" dir="5400000" algn="ctr" rotWithShape="0">
              <a:srgbClr val="000000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1792" y="3630168"/>
            <a:ext cx="65836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D4FF"/>
                </a:solidFill>
                <a:latin typeface="Consolas"/>
              </a:rPr>
              <a:t>01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1792" y="4224528"/>
            <a:ext cx="3246120" cy="20116"/>
          </a:xfrm>
          <a:prstGeom prst="rect">
            <a:avLst/>
          </a:prstGeom>
          <a:solidFill>
            <a:srgbClr val="00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1792" y="4315968"/>
            <a:ext cx="32004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FF"/>
                </a:solidFill>
                <a:latin typeface="Consolas"/>
              </a:rPr>
              <a:t>MONITOR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792" y="4736592"/>
            <a:ext cx="3200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2E2FF"/>
                </a:solidFill>
                <a:latin typeface="Calibri Light"/>
              </a:rPr>
              <a:t>NASA + NOAA
every 5–15 min
autonomously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370832" y="3520440"/>
            <a:ext cx="3584448" cy="2331720"/>
          </a:xfrm>
          <a:prstGeom prst="roundRect">
            <a:avLst/>
          </a:prstGeom>
          <a:solidFill>
            <a:srgbClr val="061222"/>
          </a:solidFill>
          <a:ln w="12700">
            <a:solidFill>
              <a:srgbClr val="002A44"/>
            </a:solidFill>
          </a:ln>
          <a:effectLst>
            <a:outerShdw blurRad="63500" dist="30000" dir="5400000" algn="ctr" rotWithShape="0">
              <a:srgbClr val="000000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35424" y="3630168"/>
            <a:ext cx="65836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D23F"/>
                </a:solidFill>
                <a:latin typeface="Consolas"/>
              </a:rPr>
              <a:t>02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35424" y="4224528"/>
            <a:ext cx="3246120" cy="20116"/>
          </a:xfrm>
          <a:prstGeom prst="rect">
            <a:avLst/>
          </a:prstGeom>
          <a:solidFill>
            <a:srgbClr val="00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35424" y="4315968"/>
            <a:ext cx="32004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D23F"/>
                </a:solidFill>
                <a:latin typeface="Consolas"/>
              </a:rPr>
              <a:t>MAP RISK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35424" y="4736592"/>
            <a:ext cx="3200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2E2FF"/>
                </a:solidFill>
                <a:latin typeface="Calibri Light"/>
              </a:rPr>
              <a:t>28 zones
north-first
real DISCOM data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284464" y="3520440"/>
            <a:ext cx="3584448" cy="2331720"/>
          </a:xfrm>
          <a:prstGeom prst="roundRect">
            <a:avLst/>
          </a:prstGeom>
          <a:solidFill>
            <a:srgbClr val="061222"/>
          </a:solidFill>
          <a:ln w="12700">
            <a:solidFill>
              <a:srgbClr val="002A44"/>
            </a:solidFill>
          </a:ln>
          <a:effectLst>
            <a:outerShdw blurRad="63500" dist="30000" dir="5400000" algn="ctr" rotWithShape="0">
              <a:srgbClr val="000000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449056" y="3630168"/>
            <a:ext cx="65836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FF88"/>
                </a:solidFill>
                <a:latin typeface="Consolas"/>
              </a:rPr>
              <a:t>03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449056" y="4224528"/>
            <a:ext cx="3246120" cy="20116"/>
          </a:xfrm>
          <a:prstGeom prst="rect">
            <a:avLst/>
          </a:prstGeom>
          <a:solidFill>
            <a:srgbClr val="00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449056" y="4315968"/>
            <a:ext cx="32004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FF88"/>
                </a:solidFill>
                <a:latin typeface="Consolas"/>
              </a:rPr>
              <a:t>CALL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49056" y="4736592"/>
            <a:ext cx="3200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2E2FF"/>
                </a:solidFill>
                <a:latin typeface="Calibri Light"/>
              </a:rPr>
              <a:t>Hindi TTS
feature phone
0 internet needed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57200" y="5998464"/>
            <a:ext cx="11384280" cy="475488"/>
          </a:xfrm>
          <a:prstGeom prst="roundRect">
            <a:avLst/>
          </a:prstGeom>
          <a:solidFill>
            <a:srgbClr val="011208"/>
          </a:solidFill>
          <a:ln w="12700">
            <a:solidFill>
              <a:srgbClr val="0055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21792" y="605332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FF88"/>
                </a:solidFill>
                <a:latin typeface="Consolas"/>
              </a:rPr>
              <a:t>"Namaste. Main KAVACH bol raha hoon. Ek bada solar toofan aa raha hai. Bijli band kar dijiye."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6821424"/>
            <a:ext cx="12188952" cy="2743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8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D4FF"/>
                </a:solidFill>
                <a:latin typeface="Consolas"/>
              </a:rPr>
              <a:t>KEY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81360" y="6510528"/>
            <a:ext cx="1188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872A8"/>
                </a:solidFill>
                <a:latin typeface="Consolas"/>
              </a:rPr>
              <a:t>04/12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59436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 i="0">
                <a:solidFill>
                  <a:srgbClr val="E2E2FF"/>
                </a:solidFill>
                <a:latin typeface="Calibri Light"/>
              </a:rPr>
              <a:t>Four layers.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61872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872A8"/>
                </a:solidFill>
                <a:latin typeface="Consolas"/>
              </a:rPr>
              <a:t>Realtime  +  Predictive  +  Historical  +  Daily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783080"/>
            <a:ext cx="5623560" cy="1078992"/>
          </a:xfrm>
          <a:prstGeom prst="roundRect">
            <a:avLst/>
          </a:prstGeom>
          <a:solidFill>
            <a:srgbClr val="081830"/>
          </a:solidFill>
          <a:ln w="12700">
            <a:solidFill>
              <a:srgbClr val="002A44"/>
            </a:solidFill>
          </a:ln>
          <a:effectLst>
            <a:outerShdw blurRad="63500" dist="30000" dir="5400000" algn="ctr" rotWithShape="0">
              <a:srgbClr val="000000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874519"/>
            <a:ext cx="960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0D4FF"/>
                </a:solidFill>
                <a:latin typeface="Consolas"/>
              </a:rPr>
              <a:t>MAP</a:t>
            </a:r>
          </a:p>
        </p:txBody>
      </p:sp>
      <p:sp>
        <p:nvSpPr>
          <p:cNvPr id="9" name="Rectangle 8"/>
          <p:cNvSpPr/>
          <p:nvPr/>
        </p:nvSpPr>
        <p:spPr>
          <a:xfrm>
            <a:off x="1581912" y="1911095"/>
            <a:ext cx="18288" cy="841247"/>
          </a:xfrm>
          <a:prstGeom prst="rect">
            <a:avLst/>
          </a:prstGeom>
          <a:solidFill>
            <a:srgbClr val="00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73351" y="1856231"/>
            <a:ext cx="42062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FF"/>
                </a:solidFill>
                <a:latin typeface="Calibri Light"/>
              </a:rPr>
              <a:t>Command Center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73351" y="2258568"/>
            <a:ext cx="4206240" cy="5120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2FF"/>
                </a:solidFill>
                <a:latin typeface="Calibri Light"/>
              </a:rPr>
              <a:t>Live India map  |  28 DISCOM zones  |  Kp gauge  |  alert feed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1480" y="2990088"/>
            <a:ext cx="5623560" cy="1078992"/>
          </a:xfrm>
          <a:prstGeom prst="roundRect">
            <a:avLst/>
          </a:prstGeom>
          <a:solidFill>
            <a:srgbClr val="081830"/>
          </a:solidFill>
          <a:ln w="12700">
            <a:solidFill>
              <a:srgbClr val="002A44"/>
            </a:solidFill>
          </a:ln>
          <a:effectLst>
            <a:outerShdw blurRad="63500" dist="30000" dir="5400000" algn="ctr" rotWithShape="0">
              <a:srgbClr val="000000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3081528"/>
            <a:ext cx="960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0FF88"/>
                </a:solidFill>
                <a:latin typeface="Consolas"/>
              </a:rPr>
              <a:t>AUR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581912" y="3118104"/>
            <a:ext cx="18288" cy="841247"/>
          </a:xfrm>
          <a:prstGeom prst="rect">
            <a:avLst/>
          </a:prstGeom>
          <a:solidFill>
            <a:srgbClr val="00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673351" y="3063240"/>
            <a:ext cx="42062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FF88"/>
                </a:solidFill>
                <a:latin typeface="Calibri Light"/>
              </a:rPr>
              <a:t>Aurora Predictor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73351" y="3465576"/>
            <a:ext cx="4206240" cy="5120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2FF"/>
                </a:solidFill>
                <a:latin typeface="Calibri Light"/>
              </a:rPr>
              <a:t>6 Indian locations  |  Kp-based visibility  |  Hindi alerts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1480" y="4197096"/>
            <a:ext cx="5623560" cy="1078992"/>
          </a:xfrm>
          <a:prstGeom prst="roundRect">
            <a:avLst/>
          </a:prstGeom>
          <a:solidFill>
            <a:srgbClr val="081830"/>
          </a:solidFill>
          <a:ln w="12700">
            <a:solidFill>
              <a:srgbClr val="002A44"/>
            </a:solidFill>
          </a:ln>
          <a:effectLst>
            <a:outerShdw blurRad="63500" dist="30000" dir="5400000" algn="ctr" rotWithShape="0">
              <a:srgbClr val="000000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4288536"/>
            <a:ext cx="960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D23F"/>
                </a:solidFill>
                <a:latin typeface="Consolas"/>
              </a:rPr>
              <a:t>SHD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581912" y="4325112"/>
            <a:ext cx="18288" cy="841247"/>
          </a:xfrm>
          <a:prstGeom prst="rect">
            <a:avLst/>
          </a:prstGeom>
          <a:solidFill>
            <a:srgbClr val="00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73351" y="4270248"/>
            <a:ext cx="42062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D23F"/>
                </a:solidFill>
                <a:latin typeface="Calibri Light"/>
              </a:rPr>
              <a:t>Daily Shield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73351" y="4672583"/>
            <a:ext cx="4206240" cy="5120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2FF"/>
                </a:solidFill>
                <a:latin typeface="Calibri Light"/>
              </a:rPr>
              <a:t>Score 0-100  |  6:30 AM IST  |  GPS + grid + aurora status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11480" y="5404104"/>
            <a:ext cx="5623560" cy="1078992"/>
          </a:xfrm>
          <a:prstGeom prst="roundRect">
            <a:avLst/>
          </a:prstGeom>
          <a:solidFill>
            <a:srgbClr val="081830"/>
          </a:solidFill>
          <a:ln w="12700">
            <a:solidFill>
              <a:srgbClr val="002A44"/>
            </a:solidFill>
          </a:ln>
          <a:effectLst>
            <a:outerShdw blurRad="63500" dist="30000" dir="5400000" algn="ctr" rotWithShape="0">
              <a:srgbClr val="000000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5495544"/>
            <a:ext cx="960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6B35"/>
                </a:solidFill>
                <a:latin typeface="Consolas"/>
              </a:rPr>
              <a:t>MEM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581912" y="5532120"/>
            <a:ext cx="18288" cy="841247"/>
          </a:xfrm>
          <a:prstGeom prst="rect">
            <a:avLst/>
          </a:prstGeom>
          <a:solidFill>
            <a:srgbClr val="00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73351" y="5477256"/>
            <a:ext cx="42062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6B35"/>
                </a:solidFill>
                <a:latin typeface="Calibri Light"/>
              </a:rPr>
              <a:t>Storm Memory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73351" y="5879592"/>
            <a:ext cx="4206240" cy="5120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2FF"/>
                </a:solidFill>
                <a:latin typeface="Calibri Light"/>
              </a:rPr>
              <a:t>4 storms since 2003  |  847 alerts fired  |  counterfactual</a:t>
            </a:r>
          </a:p>
        </p:txBody>
      </p:sp>
      <p:pic>
        <p:nvPicPr>
          <p:cNvPr id="27" name="Picture 26" descr="01_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6208" y="457200"/>
            <a:ext cx="5760720" cy="3600450"/>
          </a:xfrm>
          <a:prstGeom prst="rect">
            <a:avLst/>
          </a:prstGeom>
        </p:spPr>
      </p:pic>
      <p:sp>
        <p:nvSpPr>
          <p:cNvPr id="28" name="Rectangle 27"/>
          <p:cNvSpPr/>
          <p:nvPr/>
        </p:nvSpPr>
        <p:spPr>
          <a:xfrm>
            <a:off x="6236208" y="457200"/>
            <a:ext cx="5760720" cy="3600450"/>
          </a:xfrm>
          <a:prstGeom prst="rect">
            <a:avLst/>
          </a:prstGeom>
          <a:noFill/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06_demo_r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6208" y="4160520"/>
            <a:ext cx="5760720" cy="2578608"/>
          </a:xfrm>
          <a:prstGeom prst="rect">
            <a:avLst/>
          </a:prstGeom>
        </p:spPr>
      </p:pic>
      <p:sp>
        <p:nvSpPr>
          <p:cNvPr id="30" name="Rectangle 29"/>
          <p:cNvSpPr/>
          <p:nvPr/>
        </p:nvSpPr>
        <p:spPr>
          <a:xfrm>
            <a:off x="6236208" y="4160520"/>
            <a:ext cx="5760720" cy="2578608"/>
          </a:xfrm>
          <a:prstGeom prst="rect">
            <a:avLst/>
          </a:prstGeom>
          <a:noFill/>
          <a:ln w="19050">
            <a:solidFill>
              <a:srgbClr val="FF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09360" y="4224528"/>
            <a:ext cx="2286000" cy="274320"/>
          </a:xfrm>
          <a:prstGeom prst="rect">
            <a:avLst/>
          </a:prstGeom>
          <a:solidFill>
            <a:srgbClr val="3A0010"/>
          </a:solidFill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2D4A"/>
                </a:solidFill>
                <a:latin typeface="Consolas"/>
              </a:rPr>
              <a:t>[ MAY 2024 REPLAY ]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6821424"/>
            <a:ext cx="12188952" cy="2743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8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D4FF"/>
                </a:solidFill>
                <a:latin typeface="Consolas"/>
              </a:rPr>
              <a:t>TECH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81360" y="6510528"/>
            <a:ext cx="1188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872A8"/>
                </a:solidFill>
                <a:latin typeface="Consolas"/>
              </a:rPr>
              <a:t>05/12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77724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 i="0">
                <a:solidFill>
                  <a:srgbClr val="E2E2FF"/>
                </a:solidFill>
                <a:latin typeface="Calibri Light"/>
              </a:rPr>
              <a:t>Real APIs. Zero mocks.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61872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6872A8"/>
                </a:solidFill>
                <a:latin typeface="Calibri Light"/>
              </a:rPr>
              <a:t>Every data source is live.  Every call is real Twilio.  Every map pin is a real DISCOM.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755648"/>
            <a:ext cx="1755648" cy="694944"/>
          </a:xfrm>
          <a:prstGeom prst="roundRect">
            <a:avLst/>
          </a:prstGeom>
          <a:solidFill>
            <a:srgbClr val="081830"/>
          </a:solidFill>
          <a:ln w="12700">
            <a:solidFill>
              <a:srgbClr val="00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901952"/>
            <a:ext cx="159105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D4FF"/>
                </a:solidFill>
                <a:latin typeface="Consolas"/>
              </a:rPr>
              <a:t>FRONTEND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267712" y="1755648"/>
            <a:ext cx="1572768" cy="694944"/>
          </a:xfrm>
          <a:prstGeom prst="roundRect">
            <a:avLst/>
          </a:prstGeom>
          <a:solidFill>
            <a:srgbClr val="020C1C"/>
          </a:solidFill>
          <a:ln w="12700">
            <a:solidFill>
              <a:srgbClr val="00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359152" y="1901952"/>
            <a:ext cx="142646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D4FF"/>
                </a:solidFill>
                <a:latin typeface="Consolas"/>
              </a:rPr>
              <a:t>Next.js 14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950208" y="1755648"/>
            <a:ext cx="7863840" cy="694944"/>
          </a:xfrm>
          <a:prstGeom prst="roundRect">
            <a:avLst/>
          </a:prstGeom>
          <a:solidFill>
            <a:srgbClr val="061222"/>
          </a:solidFill>
          <a:ln w="12700">
            <a:solidFill>
              <a:srgbClr val="00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078224" y="1920240"/>
            <a:ext cx="762609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2FF"/>
                </a:solidFill>
                <a:latin typeface="Consolas"/>
              </a:rPr>
              <a:t>TypeScript  +  Tailwind CSS  +  Mapbox GL JS  +  Three.js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480" y="2578608"/>
            <a:ext cx="1755648" cy="694944"/>
          </a:xfrm>
          <a:prstGeom prst="roundRect">
            <a:avLst/>
          </a:prstGeom>
          <a:solidFill>
            <a:srgbClr val="081830"/>
          </a:solidFill>
          <a:ln w="12700">
            <a:solidFill>
              <a:srgbClr val="00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2724912"/>
            <a:ext cx="159105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D4FF"/>
                </a:solidFill>
                <a:latin typeface="Consolas"/>
              </a:rPr>
              <a:t>BACKEND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267712" y="2578608"/>
            <a:ext cx="1572768" cy="694944"/>
          </a:xfrm>
          <a:prstGeom prst="roundRect">
            <a:avLst/>
          </a:prstGeom>
          <a:solidFill>
            <a:srgbClr val="020C1C"/>
          </a:solidFill>
          <a:ln w="12700">
            <a:solidFill>
              <a:srgbClr val="00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359152" y="2724912"/>
            <a:ext cx="142646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D4FF"/>
                </a:solidFill>
                <a:latin typeface="Consolas"/>
              </a:rPr>
              <a:t>FastAPI 0.110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950208" y="2578608"/>
            <a:ext cx="7863840" cy="694944"/>
          </a:xfrm>
          <a:prstGeom prst="roundRect">
            <a:avLst/>
          </a:prstGeom>
          <a:solidFill>
            <a:srgbClr val="061222"/>
          </a:solidFill>
          <a:ln w="12700">
            <a:solidFill>
              <a:srgbClr val="00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078224" y="2743200"/>
            <a:ext cx="762609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2FF"/>
                </a:solidFill>
                <a:latin typeface="Consolas"/>
              </a:rPr>
              <a:t>APScheduler  +  Python 3.13  +  httpx  +  Supabase client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1480" y="3401568"/>
            <a:ext cx="1755648" cy="694944"/>
          </a:xfrm>
          <a:prstGeom prst="roundRect">
            <a:avLst/>
          </a:prstGeom>
          <a:solidFill>
            <a:srgbClr val="081830"/>
          </a:solidFill>
          <a:ln w="12700">
            <a:solidFill>
              <a:srgbClr val="00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3547872"/>
            <a:ext cx="159105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FF88"/>
                </a:solidFill>
                <a:latin typeface="Consolas"/>
              </a:rPr>
              <a:t>DATABASE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267712" y="3401568"/>
            <a:ext cx="1572768" cy="694944"/>
          </a:xfrm>
          <a:prstGeom prst="roundRect">
            <a:avLst/>
          </a:prstGeom>
          <a:solidFill>
            <a:srgbClr val="020C1C"/>
          </a:solidFill>
          <a:ln w="12700">
            <a:solidFill>
              <a:srgbClr val="00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359152" y="3547872"/>
            <a:ext cx="142646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FF88"/>
                </a:solidFill>
                <a:latin typeface="Consolas"/>
              </a:rPr>
              <a:t>Supabase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950208" y="3401568"/>
            <a:ext cx="7863840" cy="694944"/>
          </a:xfrm>
          <a:prstGeom prst="roundRect">
            <a:avLst/>
          </a:prstGeom>
          <a:solidFill>
            <a:srgbClr val="061222"/>
          </a:solidFill>
          <a:ln w="12700">
            <a:solidFill>
              <a:srgbClr val="00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78224" y="3566160"/>
            <a:ext cx="762609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2FF"/>
                </a:solidFill>
                <a:latin typeface="Consolas"/>
              </a:rPr>
              <a:t>PostgreSQL  +  realtime  |  28 DISCOMs  +  alert log  +  v2 tables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11480" y="4224528"/>
            <a:ext cx="1755648" cy="694944"/>
          </a:xfrm>
          <a:prstGeom prst="roundRect">
            <a:avLst/>
          </a:prstGeom>
          <a:solidFill>
            <a:srgbClr val="081830"/>
          </a:solidFill>
          <a:ln w="12700">
            <a:solidFill>
              <a:srgbClr val="00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4370832"/>
            <a:ext cx="159105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FF88"/>
                </a:solidFill>
                <a:latin typeface="Consolas"/>
              </a:rPr>
              <a:t>VOICE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267712" y="4224528"/>
            <a:ext cx="1572768" cy="694944"/>
          </a:xfrm>
          <a:prstGeom prst="roundRect">
            <a:avLst/>
          </a:prstGeom>
          <a:solidFill>
            <a:srgbClr val="020C1C"/>
          </a:solidFill>
          <a:ln w="12700">
            <a:solidFill>
              <a:srgbClr val="00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359152" y="4370832"/>
            <a:ext cx="142646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FF88"/>
                </a:solidFill>
                <a:latin typeface="Consolas"/>
              </a:rPr>
              <a:t>Twilio + Polly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950208" y="4224528"/>
            <a:ext cx="7863840" cy="694944"/>
          </a:xfrm>
          <a:prstGeom prst="roundRect">
            <a:avLst/>
          </a:prstGeom>
          <a:solidFill>
            <a:srgbClr val="061222"/>
          </a:solidFill>
          <a:ln w="12700">
            <a:solidFill>
              <a:srgbClr val="00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078224" y="4389120"/>
            <a:ext cx="762609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2FF"/>
                </a:solidFill>
                <a:latin typeface="Consolas"/>
              </a:rPr>
              <a:t>Amazon Polly Aditi (hi-IN)  |  TTS -&gt; MP3 fallback  |  multi-number parallel calls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11480" y="5047488"/>
            <a:ext cx="1755648" cy="694944"/>
          </a:xfrm>
          <a:prstGeom prst="roundRect">
            <a:avLst/>
          </a:prstGeom>
          <a:solidFill>
            <a:srgbClr val="081830"/>
          </a:solidFill>
          <a:ln w="12700">
            <a:solidFill>
              <a:srgbClr val="00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2920" y="5193792"/>
            <a:ext cx="159105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D23F"/>
                </a:solidFill>
                <a:latin typeface="Consolas"/>
              </a:rPr>
              <a:t>DATA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267712" y="5047488"/>
            <a:ext cx="1572768" cy="694944"/>
          </a:xfrm>
          <a:prstGeom prst="roundRect">
            <a:avLst/>
          </a:prstGeom>
          <a:solidFill>
            <a:srgbClr val="020C1C"/>
          </a:solidFill>
          <a:ln w="12700">
            <a:solidFill>
              <a:srgbClr val="00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359152" y="5193792"/>
            <a:ext cx="142646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D23F"/>
                </a:solidFill>
                <a:latin typeface="Consolas"/>
              </a:rPr>
              <a:t>NASA DONKI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950208" y="5047488"/>
            <a:ext cx="7863840" cy="694944"/>
          </a:xfrm>
          <a:prstGeom prst="roundRect">
            <a:avLst/>
          </a:prstGeom>
          <a:solidFill>
            <a:srgbClr val="061222"/>
          </a:solidFill>
          <a:ln w="12700">
            <a:solidFill>
              <a:srgbClr val="00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078224" y="5212079"/>
            <a:ext cx="762609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2FF"/>
                </a:solidFill>
                <a:latin typeface="Consolas"/>
              </a:rPr>
              <a:t>NOAA SWPC Kp 5-min  +  NASA CME/GST 15-min  +  local storm archive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11480" y="5870448"/>
            <a:ext cx="1755648" cy="694944"/>
          </a:xfrm>
          <a:prstGeom prst="roundRect">
            <a:avLst/>
          </a:prstGeom>
          <a:solidFill>
            <a:srgbClr val="081830"/>
          </a:solidFill>
          <a:ln w="12700">
            <a:solidFill>
              <a:srgbClr val="00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02920" y="6016752"/>
            <a:ext cx="159105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6872A8"/>
                </a:solidFill>
                <a:latin typeface="Consolas"/>
              </a:rPr>
              <a:t>DEPLOY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267712" y="5870448"/>
            <a:ext cx="1572768" cy="694944"/>
          </a:xfrm>
          <a:prstGeom prst="roundRect">
            <a:avLst/>
          </a:prstGeom>
          <a:solidFill>
            <a:srgbClr val="020C1C"/>
          </a:solidFill>
          <a:ln w="12700">
            <a:solidFill>
              <a:srgbClr val="00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359152" y="6016752"/>
            <a:ext cx="142646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6872A8"/>
                </a:solidFill>
                <a:latin typeface="Consolas"/>
              </a:rPr>
              <a:t>Vercel + Railway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950208" y="5870448"/>
            <a:ext cx="7863840" cy="694944"/>
          </a:xfrm>
          <a:prstGeom prst="roundRect">
            <a:avLst/>
          </a:prstGeom>
          <a:solidFill>
            <a:srgbClr val="061222"/>
          </a:solidFill>
          <a:ln w="12700">
            <a:solidFill>
              <a:srgbClr val="00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078224" y="6035040"/>
            <a:ext cx="762609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2FF"/>
                </a:solidFill>
                <a:latin typeface="Consolas"/>
              </a:rPr>
              <a:t>frontend-rust-xi-79.vercel.app  +  powerful-respect-production.up.railway.app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11480" y="6345936"/>
            <a:ext cx="2743200" cy="402336"/>
          </a:xfrm>
          <a:prstGeom prst="roundRect">
            <a:avLst/>
          </a:prstGeom>
          <a:solidFill>
            <a:srgbClr val="020C1C"/>
          </a:solidFill>
          <a:ln w="12700">
            <a:solidFill>
              <a:srgbClr val="0055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39496" y="6437376"/>
            <a:ext cx="777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FF88"/>
                </a:solidFill>
                <a:latin typeface="Consolas"/>
              </a:rPr>
              <a:t>LIVE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380744" y="6437376"/>
            <a:ext cx="171907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872A8"/>
                </a:solidFill>
                <a:latin typeface="Calibri Light"/>
              </a:rPr>
              <a:t>Vercel deploy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3355848" y="6345936"/>
            <a:ext cx="2743200" cy="402336"/>
          </a:xfrm>
          <a:prstGeom prst="roundRect">
            <a:avLst/>
          </a:prstGeom>
          <a:solidFill>
            <a:srgbClr val="020C1C"/>
          </a:solidFill>
          <a:ln w="12700">
            <a:solidFill>
              <a:srgbClr val="0055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483864" y="6437376"/>
            <a:ext cx="777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FF88"/>
                </a:solidFill>
                <a:latin typeface="Consolas"/>
              </a:rPr>
              <a:t>LIVE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325112" y="6437376"/>
            <a:ext cx="171907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872A8"/>
                </a:solidFill>
                <a:latin typeface="Calibri Light"/>
              </a:rPr>
              <a:t>Railway backend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300216" y="6345936"/>
            <a:ext cx="2743200" cy="402336"/>
          </a:xfrm>
          <a:prstGeom prst="roundRect">
            <a:avLst/>
          </a:prstGeom>
          <a:solidFill>
            <a:srgbClr val="020C1C"/>
          </a:solidFill>
          <a:ln w="12700">
            <a:solidFill>
              <a:srgbClr val="0055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428232" y="6437376"/>
            <a:ext cx="777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FF88"/>
                </a:solidFill>
                <a:latin typeface="Consolas"/>
              </a:rPr>
              <a:t>LIVE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269480" y="6437376"/>
            <a:ext cx="171907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872A8"/>
                </a:solidFill>
                <a:latin typeface="Calibri Light"/>
              </a:rPr>
              <a:t>Twilio tested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9244584" y="6345936"/>
            <a:ext cx="2743200" cy="402336"/>
          </a:xfrm>
          <a:prstGeom prst="roundRect">
            <a:avLst/>
          </a:prstGeom>
          <a:solidFill>
            <a:srgbClr val="020C1C"/>
          </a:solidFill>
          <a:ln w="12700">
            <a:solidFill>
              <a:srgbClr val="005C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372600" y="6437376"/>
            <a:ext cx="777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D4FF"/>
                </a:solidFill>
                <a:latin typeface="Consolas"/>
              </a:rPr>
              <a:t>6 DAYS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213848" y="6437376"/>
            <a:ext cx="171907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872A8"/>
                </a:solidFill>
                <a:latin typeface="Calibri Light"/>
              </a:rPr>
              <a:t>Concept to ship</a:t>
            </a:r>
          </a:p>
        </p:txBody>
      </p:sp>
      <p:sp>
        <p:nvSpPr>
          <p:cNvPr id="55" name="Rectangle 54"/>
          <p:cNvSpPr/>
          <p:nvPr/>
        </p:nvSpPr>
        <p:spPr>
          <a:xfrm>
            <a:off x="0" y="6821424"/>
            <a:ext cx="12188952" cy="2743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8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D4FF"/>
                </a:solidFill>
                <a:latin typeface="Consolas"/>
              </a:rP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81360" y="6510528"/>
            <a:ext cx="1188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872A8"/>
                </a:solidFill>
                <a:latin typeface="Consolas"/>
              </a:rPr>
              <a:t>06/12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77724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 i="0">
                <a:solidFill>
                  <a:srgbClr val="E2E2FF"/>
                </a:solidFill>
                <a:latin typeface="Calibri Light"/>
              </a:rPr>
              <a:t>Autonomous loop.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61872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6872A8"/>
                </a:solidFill>
                <a:latin typeface="Calibri Light"/>
              </a:rPr>
              <a:t>No human in the trigger path.  Polls every 5-15 min.  Fires alerts in parallel.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" y="1755648"/>
            <a:ext cx="2148840" cy="1298448"/>
          </a:xfrm>
          <a:prstGeom prst="roundRect">
            <a:avLst/>
          </a:prstGeom>
          <a:solidFill>
            <a:srgbClr val="081830"/>
          </a:solidFill>
          <a:ln w="12700">
            <a:solidFill>
              <a:srgbClr val="005C8A"/>
            </a:solidFill>
          </a:ln>
          <a:effectLst>
            <a:outerShdw blurRad="63500" dist="30000" dir="5400000" algn="ctr" rotWithShape="0">
              <a:srgbClr val="000000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883664"/>
            <a:ext cx="1920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2E2FF"/>
                </a:solidFill>
                <a:latin typeface="Calibri Light"/>
              </a:rPr>
              <a:t>NASA DONKI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37744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872A8"/>
                </a:solidFill>
                <a:latin typeface="Consolas"/>
              </a:rPr>
              <a:t>CME + GST
15 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78608" y="2231136"/>
            <a:ext cx="3474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D4FF"/>
                </a:solidFill>
                <a:latin typeface="Consolas"/>
              </a:rPr>
              <a:t>-&gt;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7472" y="3328415"/>
            <a:ext cx="2148840" cy="1298448"/>
          </a:xfrm>
          <a:prstGeom prst="roundRect">
            <a:avLst/>
          </a:prstGeom>
          <a:solidFill>
            <a:srgbClr val="081830"/>
          </a:solidFill>
          <a:ln w="12700">
            <a:solidFill>
              <a:srgbClr val="005C8A"/>
            </a:solidFill>
          </a:ln>
          <a:effectLst>
            <a:outerShdw blurRad="63500" dist="30000" dir="5400000" algn="ctr" rotWithShape="0">
              <a:srgbClr val="000000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3456432"/>
            <a:ext cx="1920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2E2FF"/>
                </a:solidFill>
                <a:latin typeface="Calibri Light"/>
              </a:rPr>
              <a:t>NOAA SWPC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950207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872A8"/>
                </a:solidFill>
                <a:latin typeface="Consolas"/>
              </a:rPr>
              <a:t>Kp-index
5 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78608" y="3803904"/>
            <a:ext cx="3474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D4FF"/>
                </a:solidFill>
                <a:latin typeface="Consolas"/>
              </a:rPr>
              <a:t>-&gt;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7472" y="4901183"/>
            <a:ext cx="2148840" cy="1298448"/>
          </a:xfrm>
          <a:prstGeom prst="roundRect">
            <a:avLst/>
          </a:prstGeom>
          <a:solidFill>
            <a:srgbClr val="081830"/>
          </a:solidFill>
          <a:ln w="12700">
            <a:solidFill>
              <a:srgbClr val="00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5029199"/>
            <a:ext cx="1920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872A8"/>
                </a:solidFill>
                <a:latin typeface="Calibri Light"/>
              </a:rPr>
              <a:t>ISRO VEDAS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522975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872A8"/>
                </a:solidFill>
                <a:latin typeface="Consolas"/>
              </a:rPr>
              <a:t>Phase 2
ionosphere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999232" y="1627632"/>
            <a:ext cx="3063240" cy="4572000"/>
          </a:xfrm>
          <a:prstGeom prst="roundRect">
            <a:avLst/>
          </a:prstGeom>
          <a:gradFill>
            <a:gsLst>
              <a:gs pos="0">
                <a:srgbClr val="001428"/>
              </a:gs>
              <a:gs pos="100000">
                <a:srgbClr val="020c1c"/>
              </a:gs>
            </a:gsLst>
            <a:lin ang="10800000" scaled="0"/>
          </a:gradFill>
          <a:ln w="19050">
            <a:solidFill>
              <a:srgbClr val="00D4FF"/>
            </a:solidFill>
          </a:ln>
          <a:effectLst>
            <a:outerShdw blurRad="63500" dist="30000" dir="5400000" algn="ctr" rotWithShape="0">
              <a:srgbClr val="00000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999232" y="1627632"/>
            <a:ext cx="3063240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108960" y="1737360"/>
            <a:ext cx="285292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D4FF"/>
                </a:solidFill>
                <a:latin typeface="Consolas"/>
              </a:rPr>
              <a:t>KAVACH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08960" y="2304288"/>
            <a:ext cx="28529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872A8"/>
                </a:solidFill>
                <a:latin typeface="Consolas"/>
              </a:rPr>
              <a:t>FastAPI + APScheduler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108960" y="2724912"/>
            <a:ext cx="2834640" cy="20116"/>
          </a:xfrm>
          <a:prstGeom prst="rect">
            <a:avLst/>
          </a:prstGeom>
          <a:solidFill>
            <a:srgbClr val="00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127248" y="2816352"/>
            <a:ext cx="2834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2FF"/>
                </a:solidFill>
                <a:latin typeface="Calibri Light"/>
              </a:rPr>
              <a:t>  Storm Classifier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27248" y="3410712"/>
            <a:ext cx="2834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2FF"/>
                </a:solidFill>
                <a:latin typeface="Calibri Light"/>
              </a:rPr>
              <a:t>  DISCOM Mapper (x28)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127248" y="4005072"/>
            <a:ext cx="2834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2FF"/>
                </a:solidFill>
                <a:latin typeface="Calibri Light"/>
              </a:rPr>
              <a:t>  Aurora Predictor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27248" y="4599432"/>
            <a:ext cx="2834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2FF"/>
                </a:solidFill>
                <a:latin typeface="Calibri Light"/>
              </a:rPr>
              <a:t>  Daily Shield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127248" y="5193792"/>
            <a:ext cx="2834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2FF"/>
                </a:solidFill>
                <a:latin typeface="Calibri Light"/>
              </a:rPr>
              <a:t>  Alert Generator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36208" y="2139696"/>
            <a:ext cx="3474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D4FF"/>
                </a:solidFill>
                <a:latin typeface="Consolas"/>
              </a:rPr>
              <a:t>-&gt;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656832" y="1755648"/>
            <a:ext cx="2331720" cy="1078992"/>
          </a:xfrm>
          <a:prstGeom prst="roundRect">
            <a:avLst/>
          </a:prstGeom>
          <a:solidFill>
            <a:srgbClr val="061222"/>
          </a:solidFill>
          <a:ln w="12700">
            <a:solidFill>
              <a:srgbClr val="005C8A"/>
            </a:solidFill>
          </a:ln>
          <a:effectLst>
            <a:outerShdw blurRad="63500" dist="30000" dir="5400000" algn="ctr" rotWithShape="0">
              <a:srgbClr val="000000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784848" y="1865376"/>
            <a:ext cx="2103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FF"/>
                </a:solidFill>
                <a:latin typeface="Calibri Light"/>
              </a:rPr>
              <a:t>Supabase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84848" y="2286000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872A8"/>
                </a:solidFill>
                <a:latin typeface="Calibri Light"/>
              </a:rPr>
              <a:t>Alert log + history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36208" y="3438144"/>
            <a:ext cx="3474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FF88"/>
                </a:solidFill>
                <a:latin typeface="Consolas"/>
              </a:rPr>
              <a:t>-&gt;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656832" y="3054096"/>
            <a:ext cx="2331720" cy="1078992"/>
          </a:xfrm>
          <a:prstGeom prst="roundRect">
            <a:avLst/>
          </a:prstGeom>
          <a:solidFill>
            <a:srgbClr val="061222"/>
          </a:solidFill>
          <a:ln w="12700">
            <a:solidFill>
              <a:srgbClr val="005538"/>
            </a:solidFill>
          </a:ln>
          <a:effectLst>
            <a:outerShdw blurRad="63500" dist="30000" dir="5400000" algn="ctr" rotWithShape="0">
              <a:srgbClr val="000000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784848" y="3163824"/>
            <a:ext cx="2103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FF88"/>
                </a:solidFill>
                <a:latin typeface="Calibri Light"/>
              </a:rPr>
              <a:t>Twilio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84848" y="3584448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872A8"/>
                </a:solidFill>
                <a:latin typeface="Calibri Light"/>
              </a:rPr>
              <a:t>Hindi voice call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36208" y="4736592"/>
            <a:ext cx="3474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D23F"/>
                </a:solidFill>
                <a:latin typeface="Consolas"/>
              </a:rPr>
              <a:t>-&gt;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656832" y="4352544"/>
            <a:ext cx="2331720" cy="1078992"/>
          </a:xfrm>
          <a:prstGeom prst="roundRect">
            <a:avLst/>
          </a:prstGeom>
          <a:solidFill>
            <a:srgbClr val="061222"/>
          </a:solidFill>
          <a:ln w="12700">
            <a:solidFill>
              <a:srgbClr val="886A00"/>
            </a:solidFill>
          </a:ln>
          <a:effectLst>
            <a:outerShdw blurRad="63500" dist="30000" dir="5400000" algn="ctr" rotWithShape="0">
              <a:srgbClr val="000000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784848" y="4462272"/>
            <a:ext cx="2103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D23F"/>
                </a:solidFill>
                <a:latin typeface="Calibri Light"/>
              </a:rPr>
              <a:t>Next.js Map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784848" y="4882896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872A8"/>
                </a:solidFill>
                <a:latin typeface="Calibri Light"/>
              </a:rPr>
              <a:t>28 zones realtime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36208" y="6035040"/>
            <a:ext cx="3474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FF88"/>
                </a:solidFill>
                <a:latin typeface="Consolas"/>
              </a:rPr>
              <a:t>-&gt;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656832" y="5650992"/>
            <a:ext cx="2331720" cy="1078992"/>
          </a:xfrm>
          <a:prstGeom prst="roundRect">
            <a:avLst/>
          </a:prstGeom>
          <a:solidFill>
            <a:srgbClr val="061222"/>
          </a:solidFill>
          <a:ln w="12700">
            <a:solidFill>
              <a:srgbClr val="005538"/>
            </a:solidFill>
          </a:ln>
          <a:effectLst>
            <a:outerShdw blurRad="63500" dist="30000" dir="5400000" algn="ctr" rotWithShape="0">
              <a:srgbClr val="000000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784848" y="5760720"/>
            <a:ext cx="2103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FF88"/>
                </a:solidFill>
                <a:latin typeface="Calibri Light"/>
              </a:rPr>
              <a:t>Farmer Phone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784848" y="6181344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872A8"/>
                </a:solidFill>
                <a:latin typeface="Calibri Light"/>
              </a:rPr>
              <a:t>Feature phone  no app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217152" y="2487168"/>
            <a:ext cx="2670048" cy="1920240"/>
          </a:xfrm>
          <a:prstGeom prst="roundRect">
            <a:avLst/>
          </a:prstGeom>
          <a:solidFill>
            <a:srgbClr val="01140A"/>
          </a:solidFill>
          <a:ln w="12700">
            <a:solidFill>
              <a:srgbClr val="00FF88"/>
            </a:solidFill>
          </a:ln>
          <a:effectLst>
            <a:outerShdw blurRad="63500" dist="30000" dir="5400000" algn="ctr" rotWithShape="0">
              <a:srgbClr val="000000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326880" y="2606040"/>
            <a:ext cx="24688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FF88"/>
                </a:solidFill>
                <a:latin typeface="Calibri Light"/>
              </a:rPr>
              <a:t>Farmer's Phone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326880" y="3108960"/>
            <a:ext cx="2468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872A8"/>
                </a:solidFill>
                <a:latin typeface="Calibri Light"/>
              </a:rPr>
              <a:t>No app needed
No internet
Just a call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887968" y="3246120"/>
            <a:ext cx="3474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FF88"/>
                </a:solidFill>
                <a:latin typeface="Consolas"/>
              </a:rPr>
              <a:t>-&gt;</a:t>
            </a:r>
          </a:p>
        </p:txBody>
      </p:sp>
      <p:sp>
        <p:nvSpPr>
          <p:cNvPr id="48" name="Rectangle 47"/>
          <p:cNvSpPr/>
          <p:nvPr/>
        </p:nvSpPr>
        <p:spPr>
          <a:xfrm>
            <a:off x="0" y="6821424"/>
            <a:ext cx="12188952" cy="2743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8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D4FF"/>
                </a:solidFill>
                <a:latin typeface="Consolas"/>
              </a:rPr>
              <a:t>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81360" y="6510528"/>
            <a:ext cx="1188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872A8"/>
                </a:solidFill>
                <a:latin typeface="Consolas"/>
              </a:rPr>
              <a:t>07/12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457200"/>
            <a:ext cx="2423160" cy="685800"/>
          </a:xfrm>
          <a:prstGeom prst="roundRect">
            <a:avLst/>
          </a:prstGeom>
          <a:gradFill>
            <a:gsLst>
              <a:gs pos="0">
                <a:srgbClr val="cc0022"/>
              </a:gs>
              <a:gs pos="100000">
                <a:srgbClr val="880011"/>
              </a:gs>
            </a:gsLst>
            <a:lin ang="10800000" scaled="0"/>
          </a:gradFill>
          <a:ln>
            <a:noFill/>
          </a:ln>
          <a:effectLst>
            <a:outerShdw blurRad="63500" dist="30000" dir="5400000" algn="ctr" rotWithShape="0">
              <a:srgbClr val="000000">
                <a:alpha val="5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512064"/>
            <a:ext cx="22402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E2E2FF"/>
                </a:solidFill>
                <a:latin typeface="Consolas"/>
              </a:rPr>
              <a:t>[ LIVE DEMO 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27248" y="457200"/>
            <a:ext cx="73152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 i="0">
                <a:solidFill>
                  <a:srgbClr val="E2E2FF"/>
                </a:solidFill>
                <a:latin typeface="Calibri Light"/>
              </a:rPr>
              <a:t>22.6 seconds.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27248" y="1261872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872A8"/>
                </a:solidFill>
                <a:latin typeface="Consolas"/>
              </a:rPr>
              <a:t>May 10, 2024  |  Kp = 9.0  |  G5 EXTREME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1755648"/>
            <a:ext cx="987552" cy="658368"/>
          </a:xfrm>
          <a:prstGeom prst="roundRect">
            <a:avLst/>
          </a:prstGeom>
          <a:solidFill>
            <a:srgbClr val="081830"/>
          </a:solidFill>
          <a:ln w="12700">
            <a:solidFill>
              <a:srgbClr val="00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" y="1920240"/>
            <a:ext cx="868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0D4FF"/>
                </a:solidFill>
                <a:latin typeface="Consolas"/>
              </a:rPr>
              <a:t>T+0s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508760" y="1755648"/>
            <a:ext cx="1938528" cy="658368"/>
          </a:xfrm>
          <a:prstGeom prst="roundRect">
            <a:avLst/>
          </a:prstGeom>
          <a:solidFill>
            <a:srgbClr val="081830"/>
          </a:solidFill>
          <a:ln w="12700">
            <a:solidFill>
              <a:srgbClr val="00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09344" y="1920240"/>
            <a:ext cx="1783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2E2FF"/>
                </a:solidFill>
                <a:latin typeface="Consolas"/>
              </a:rPr>
              <a:t>NOMINAL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66160" y="1755648"/>
            <a:ext cx="2788920" cy="658368"/>
          </a:xfrm>
          <a:prstGeom prst="roundRect">
            <a:avLst/>
          </a:prstGeom>
          <a:solidFill>
            <a:srgbClr val="061222"/>
          </a:solidFill>
          <a:ln w="12700">
            <a:solidFill>
              <a:srgbClr val="00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94176" y="1920240"/>
            <a:ext cx="257860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2FF"/>
                </a:solidFill>
                <a:latin typeface="Calibri Light"/>
              </a:rPr>
              <a:t>Monitoring active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96112" y="2414015"/>
            <a:ext cx="18288" cy="137160"/>
          </a:xfrm>
          <a:prstGeom prst="rect">
            <a:avLst/>
          </a:prstGeom>
          <a:solidFill>
            <a:srgbClr val="687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11480" y="2551176"/>
            <a:ext cx="987552" cy="658368"/>
          </a:xfrm>
          <a:prstGeom prst="roundRect">
            <a:avLst/>
          </a:prstGeom>
          <a:solidFill>
            <a:srgbClr val="081830"/>
          </a:solidFill>
          <a:ln w="12700">
            <a:solidFill>
              <a:srgbClr val="00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5488" y="2715768"/>
            <a:ext cx="868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0D4FF"/>
                </a:solidFill>
                <a:latin typeface="Consolas"/>
              </a:rPr>
              <a:t>T+3s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508760" y="2551176"/>
            <a:ext cx="1938528" cy="658368"/>
          </a:xfrm>
          <a:prstGeom prst="roundRect">
            <a:avLst/>
          </a:prstGeom>
          <a:solidFill>
            <a:srgbClr val="081830"/>
          </a:solidFill>
          <a:ln w="12700">
            <a:solidFill>
              <a:srgbClr val="886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09344" y="2715768"/>
            <a:ext cx="1783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D23F"/>
                </a:solidFill>
                <a:latin typeface="Consolas"/>
              </a:rPr>
              <a:t>CME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566160" y="2551176"/>
            <a:ext cx="2788920" cy="658368"/>
          </a:xfrm>
          <a:prstGeom prst="roundRect">
            <a:avLst/>
          </a:prstGeom>
          <a:solidFill>
            <a:srgbClr val="061222"/>
          </a:solidFill>
          <a:ln w="12700">
            <a:solidFill>
              <a:srgbClr val="00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94176" y="2715768"/>
            <a:ext cx="257860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2FF"/>
                </a:solidFill>
                <a:latin typeface="Calibri Light"/>
              </a:rPr>
              <a:t>X-class flare detected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96112" y="3209544"/>
            <a:ext cx="18288" cy="137160"/>
          </a:xfrm>
          <a:prstGeom prst="rect">
            <a:avLst/>
          </a:prstGeom>
          <a:solidFill>
            <a:srgbClr val="687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11480" y="3346704"/>
            <a:ext cx="987552" cy="658368"/>
          </a:xfrm>
          <a:prstGeom prst="roundRect">
            <a:avLst/>
          </a:prstGeom>
          <a:solidFill>
            <a:srgbClr val="081830"/>
          </a:solidFill>
          <a:ln w="12700">
            <a:solidFill>
              <a:srgbClr val="00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5488" y="3511296"/>
            <a:ext cx="868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0D4FF"/>
                </a:solidFill>
                <a:latin typeface="Consolas"/>
              </a:rPr>
              <a:t>T+5s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508760" y="3346704"/>
            <a:ext cx="1938528" cy="658368"/>
          </a:xfrm>
          <a:prstGeom prst="roundRect">
            <a:avLst/>
          </a:prstGeom>
          <a:solidFill>
            <a:srgbClr val="081830"/>
          </a:solidFill>
          <a:ln w="12700">
            <a:solidFill>
              <a:srgbClr val="7A00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609344" y="3511296"/>
            <a:ext cx="1783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2D4A"/>
                </a:solidFill>
                <a:latin typeface="Consolas"/>
              </a:rPr>
              <a:t>Kp = 9.0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566160" y="3346704"/>
            <a:ext cx="2788920" cy="658368"/>
          </a:xfrm>
          <a:prstGeom prst="roundRect">
            <a:avLst/>
          </a:prstGeom>
          <a:solidFill>
            <a:srgbClr val="061222"/>
          </a:solidFill>
          <a:ln w="12700">
            <a:solidFill>
              <a:srgbClr val="00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94176" y="3511296"/>
            <a:ext cx="257860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2FF"/>
                </a:solidFill>
                <a:latin typeface="Calibri Light"/>
              </a:rPr>
              <a:t>EXTREME  G5  confirmed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96112" y="4005072"/>
            <a:ext cx="18288" cy="137160"/>
          </a:xfrm>
          <a:prstGeom prst="rect">
            <a:avLst/>
          </a:prstGeom>
          <a:solidFill>
            <a:srgbClr val="687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411480" y="4142231"/>
            <a:ext cx="987552" cy="658368"/>
          </a:xfrm>
          <a:prstGeom prst="roundRect">
            <a:avLst/>
          </a:prstGeom>
          <a:solidFill>
            <a:srgbClr val="081830"/>
          </a:solidFill>
          <a:ln w="12700">
            <a:solidFill>
              <a:srgbClr val="00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5488" y="4306823"/>
            <a:ext cx="868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0D4FF"/>
                </a:solidFill>
                <a:latin typeface="Consolas"/>
              </a:rPr>
              <a:t>T+14s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508760" y="4142231"/>
            <a:ext cx="1938528" cy="658368"/>
          </a:xfrm>
          <a:prstGeom prst="roundRect">
            <a:avLst/>
          </a:prstGeom>
          <a:solidFill>
            <a:srgbClr val="081830"/>
          </a:solidFill>
          <a:ln w="12700">
            <a:solidFill>
              <a:srgbClr val="7A00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609344" y="4306823"/>
            <a:ext cx="1783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2D4A"/>
                </a:solidFill>
                <a:latin typeface="Consolas"/>
              </a:rPr>
              <a:t>MAP RED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566160" y="4142231"/>
            <a:ext cx="2788920" cy="658368"/>
          </a:xfrm>
          <a:prstGeom prst="roundRect">
            <a:avLst/>
          </a:prstGeom>
          <a:solidFill>
            <a:srgbClr val="061222"/>
          </a:solidFill>
          <a:ln w="12700">
            <a:solidFill>
              <a:srgbClr val="00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694176" y="4306823"/>
            <a:ext cx="257860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2FF"/>
                </a:solidFill>
                <a:latin typeface="Calibri Light"/>
              </a:rPr>
              <a:t>All 28 zones -&gt; red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96112" y="4800599"/>
            <a:ext cx="18288" cy="137160"/>
          </a:xfrm>
          <a:prstGeom prst="rect">
            <a:avLst/>
          </a:prstGeom>
          <a:solidFill>
            <a:srgbClr val="687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411480" y="4937760"/>
            <a:ext cx="987552" cy="658368"/>
          </a:xfrm>
          <a:prstGeom prst="roundRect">
            <a:avLst/>
          </a:prstGeom>
          <a:solidFill>
            <a:srgbClr val="081830"/>
          </a:solidFill>
          <a:ln w="12700">
            <a:solidFill>
              <a:srgbClr val="00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75488" y="5102352"/>
            <a:ext cx="868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0D4FF"/>
                </a:solidFill>
                <a:latin typeface="Consolas"/>
              </a:rPr>
              <a:t>T+17s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508760" y="4937760"/>
            <a:ext cx="1938528" cy="658368"/>
          </a:xfrm>
          <a:prstGeom prst="roundRect">
            <a:avLst/>
          </a:prstGeom>
          <a:solidFill>
            <a:srgbClr val="081830"/>
          </a:solidFill>
          <a:ln w="12700">
            <a:solidFill>
              <a:srgbClr val="663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609344" y="5102352"/>
            <a:ext cx="1783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6B35"/>
                </a:solidFill>
                <a:latin typeface="Consolas"/>
              </a:rPr>
              <a:t>ALERTS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566160" y="4937760"/>
            <a:ext cx="2788920" cy="658368"/>
          </a:xfrm>
          <a:prstGeom prst="roundRect">
            <a:avLst/>
          </a:prstGeom>
          <a:solidFill>
            <a:srgbClr val="061222"/>
          </a:solidFill>
          <a:ln w="12700">
            <a:solidFill>
              <a:srgbClr val="00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694176" y="5102352"/>
            <a:ext cx="257860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2FF"/>
                </a:solidFill>
                <a:latin typeface="Calibri Light"/>
              </a:rPr>
              <a:t>28 DISCOMs  +  12,400 farmers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96112" y="5596128"/>
            <a:ext cx="18288" cy="137160"/>
          </a:xfrm>
          <a:prstGeom prst="rect">
            <a:avLst/>
          </a:prstGeom>
          <a:solidFill>
            <a:srgbClr val="687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411480" y="5733288"/>
            <a:ext cx="987552" cy="658368"/>
          </a:xfrm>
          <a:prstGeom prst="roundRect">
            <a:avLst/>
          </a:prstGeom>
          <a:solidFill>
            <a:srgbClr val="081830"/>
          </a:solidFill>
          <a:ln w="12700">
            <a:solidFill>
              <a:srgbClr val="00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75488" y="5897879"/>
            <a:ext cx="868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0D4FF"/>
                </a:solidFill>
                <a:latin typeface="Consolas"/>
              </a:rPr>
              <a:t>T+20s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508760" y="5733288"/>
            <a:ext cx="1938528" cy="658368"/>
          </a:xfrm>
          <a:prstGeom prst="roundRect">
            <a:avLst/>
          </a:prstGeom>
          <a:solidFill>
            <a:srgbClr val="081830"/>
          </a:solidFill>
          <a:ln w="12700">
            <a:solidFill>
              <a:srgbClr val="0055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609344" y="5897879"/>
            <a:ext cx="1783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FF88"/>
                </a:solidFill>
                <a:latin typeface="Consolas"/>
              </a:rPr>
              <a:t>CALL LIVE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3566160" y="5733288"/>
            <a:ext cx="2788920" cy="658368"/>
          </a:xfrm>
          <a:prstGeom prst="roundRect">
            <a:avLst/>
          </a:prstGeom>
          <a:solidFill>
            <a:srgbClr val="061222"/>
          </a:solidFill>
          <a:ln w="12700">
            <a:solidFill>
              <a:srgbClr val="00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694176" y="5897879"/>
            <a:ext cx="257860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2FF"/>
                </a:solidFill>
                <a:latin typeface="Calibri Light"/>
              </a:rPr>
              <a:t>Hindi rings on demo phone</a:t>
            </a:r>
          </a:p>
        </p:txBody>
      </p:sp>
      <p:pic>
        <p:nvPicPr>
          <p:cNvPr id="50" name="Picture 49" descr="06_dem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1968" y="1627632"/>
            <a:ext cx="5349240" cy="3346704"/>
          </a:xfrm>
          <a:prstGeom prst="rect">
            <a:avLst/>
          </a:prstGeom>
        </p:spPr>
      </p:pic>
      <p:sp>
        <p:nvSpPr>
          <p:cNvPr id="51" name="Rectangle 50"/>
          <p:cNvSpPr/>
          <p:nvPr/>
        </p:nvSpPr>
        <p:spPr>
          <a:xfrm>
            <a:off x="6601968" y="1627632"/>
            <a:ext cx="5349240" cy="3346704"/>
          </a:xfrm>
          <a:prstGeom prst="rect">
            <a:avLst/>
          </a:prstGeom>
          <a:noFill/>
          <a:ln w="25400">
            <a:solidFill>
              <a:srgbClr val="FF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601968" y="5047488"/>
            <a:ext cx="5349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FF2D4A"/>
                </a:solidFill>
                <a:latin typeface="Consolas"/>
              </a:rPr>
              <a:t>India map: all 28 DISCOMs in RED  |  Alerts firing in parallel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411480" y="6400800"/>
            <a:ext cx="1965960" cy="384048"/>
          </a:xfrm>
          <a:prstGeom prst="roundRect">
            <a:avLst/>
          </a:prstGeom>
          <a:solidFill>
            <a:srgbClr val="081830"/>
          </a:solidFill>
          <a:ln w="12700">
            <a:solidFill>
              <a:srgbClr val="00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21208" y="6473952"/>
            <a:ext cx="7498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D23F"/>
                </a:solidFill>
                <a:latin typeface="Consolas"/>
              </a:rPr>
              <a:t>22.6s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307592" y="6473952"/>
            <a:ext cx="1005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872A8"/>
                </a:solidFill>
                <a:latin typeface="Calibri Light"/>
              </a:rPr>
              <a:t>demo runtime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2514600" y="6400800"/>
            <a:ext cx="1965960" cy="384048"/>
          </a:xfrm>
          <a:prstGeom prst="roundRect">
            <a:avLst/>
          </a:prstGeom>
          <a:solidFill>
            <a:srgbClr val="081830"/>
          </a:solidFill>
          <a:ln w="12700">
            <a:solidFill>
              <a:srgbClr val="00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624328" y="6473952"/>
            <a:ext cx="7498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FF"/>
                </a:solidFill>
                <a:latin typeface="Consolas"/>
              </a:rPr>
              <a:t>4.5h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410712" y="6473952"/>
            <a:ext cx="1005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872A8"/>
                </a:solidFill>
                <a:latin typeface="Calibri Light"/>
              </a:rPr>
              <a:t>warning window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4617720" y="6400800"/>
            <a:ext cx="1965960" cy="384048"/>
          </a:xfrm>
          <a:prstGeom prst="roundRect">
            <a:avLst/>
          </a:prstGeom>
          <a:solidFill>
            <a:srgbClr val="081830"/>
          </a:solidFill>
          <a:ln w="12700">
            <a:solidFill>
              <a:srgbClr val="00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727448" y="6473952"/>
            <a:ext cx="7498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FF88"/>
                </a:solidFill>
                <a:latin typeface="Consolas"/>
              </a:rPr>
              <a:t>LIVE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513831" y="6473952"/>
            <a:ext cx="1005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872A8"/>
                </a:solidFill>
                <a:latin typeface="Calibri Light"/>
              </a:rPr>
              <a:t>Vercel + Railway</a:t>
            </a:r>
          </a:p>
        </p:txBody>
      </p:sp>
      <p:sp>
        <p:nvSpPr>
          <p:cNvPr id="62" name="Rectangle 61"/>
          <p:cNvSpPr/>
          <p:nvPr/>
        </p:nvSpPr>
        <p:spPr>
          <a:xfrm>
            <a:off x="0" y="6821424"/>
            <a:ext cx="12188952" cy="27432"/>
          </a:xfrm>
          <a:prstGeom prst="rect">
            <a:avLst/>
          </a:prstGeom>
          <a:solidFill>
            <a:srgbClr val="FF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8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D4FF"/>
                </a:solidFill>
                <a:latin typeface="Consolas"/>
              </a:rPr>
              <a:t>STORM MEMORY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81360" y="6510528"/>
            <a:ext cx="1188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872A8"/>
                </a:solidFill>
                <a:latin typeface="Consolas"/>
              </a:rPr>
              <a:t>08/12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77724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 i="0">
                <a:solidFill>
                  <a:srgbClr val="E2E2FF"/>
                </a:solidFill>
                <a:latin typeface="Calibri Light"/>
              </a:rPr>
              <a:t>21 years of storms.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61872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6872A8"/>
                </a:solidFill>
                <a:latin typeface="Calibri Light"/>
              </a:rPr>
              <a:t>KAVACH applied retroactively to every major Indian geomagnetic event since 2003.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" y="1828800"/>
            <a:ext cx="868680" cy="749808"/>
          </a:xfrm>
          <a:prstGeom prst="roundRect">
            <a:avLst/>
          </a:prstGeom>
          <a:solidFill>
            <a:srgbClr val="081830"/>
          </a:solidFill>
          <a:ln w="127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2011680"/>
            <a:ext cx="8412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6B35"/>
                </a:solidFill>
                <a:latin typeface="Consolas"/>
              </a:rPr>
              <a:t>2003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25880" y="1828800"/>
            <a:ext cx="5440680" cy="749808"/>
          </a:xfrm>
          <a:prstGeom prst="roundRect">
            <a:avLst/>
          </a:prstGeom>
          <a:solidFill>
            <a:srgbClr val="061222"/>
          </a:solidFill>
          <a:ln w="12700">
            <a:solidFill>
              <a:srgbClr val="00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63040" y="2011680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2E2FF"/>
                </a:solidFill>
                <a:latin typeface="Calibri Light"/>
              </a:rPr>
              <a:t>Halloween Superstorm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76288" y="1828800"/>
            <a:ext cx="1463040" cy="749808"/>
          </a:xfrm>
          <a:prstGeom prst="roundRect">
            <a:avLst/>
          </a:prstGeom>
          <a:solidFill>
            <a:srgbClr val="081830"/>
          </a:solidFill>
          <a:ln w="12700">
            <a:solidFill>
              <a:srgbClr val="00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67728" y="2011680"/>
            <a:ext cx="131673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872A8"/>
                </a:solidFill>
                <a:latin typeface="Consolas"/>
              </a:rPr>
              <a:t>Kp 9.0+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49056" y="1828800"/>
            <a:ext cx="1920240" cy="749808"/>
          </a:xfrm>
          <a:prstGeom prst="roundRect">
            <a:avLst/>
          </a:prstGeom>
          <a:solidFill>
            <a:srgbClr val="01140A"/>
          </a:solidFill>
          <a:ln w="1270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40496" y="1993392"/>
            <a:ext cx="17373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FF88"/>
                </a:solidFill>
                <a:latin typeface="Consolas"/>
              </a:rPr>
              <a:t>8h avg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479024" y="1828800"/>
            <a:ext cx="1371600" cy="749808"/>
          </a:xfrm>
          <a:prstGeom prst="roundRect">
            <a:avLst/>
          </a:prstGeom>
          <a:solidFill>
            <a:srgbClr val="081830"/>
          </a:solidFill>
          <a:ln w="12700">
            <a:solidFill>
              <a:srgbClr val="00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70464" y="2011680"/>
            <a:ext cx="1188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6B35"/>
                </a:solidFill>
                <a:latin typeface="Consolas"/>
              </a:rPr>
              <a:t>294 alerts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7472" y="2743200"/>
            <a:ext cx="868680" cy="749808"/>
          </a:xfrm>
          <a:prstGeom prst="roundRect">
            <a:avLst/>
          </a:prstGeom>
          <a:solidFill>
            <a:srgbClr val="081830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2926080"/>
            <a:ext cx="8412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D4FF"/>
                </a:solidFill>
                <a:latin typeface="Consolas"/>
              </a:rPr>
              <a:t>2015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325880" y="2743200"/>
            <a:ext cx="5440680" cy="749808"/>
          </a:xfrm>
          <a:prstGeom prst="roundRect">
            <a:avLst/>
          </a:prstGeom>
          <a:solidFill>
            <a:srgbClr val="061222"/>
          </a:solidFill>
          <a:ln w="12700">
            <a:solidFill>
              <a:srgbClr val="00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63040" y="2926080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2E2FF"/>
                </a:solidFill>
                <a:latin typeface="Calibri Light"/>
              </a:rPr>
              <a:t>St. Patrick's Day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76288" y="2743200"/>
            <a:ext cx="1463040" cy="749808"/>
          </a:xfrm>
          <a:prstGeom prst="roundRect">
            <a:avLst/>
          </a:prstGeom>
          <a:solidFill>
            <a:srgbClr val="081830"/>
          </a:solidFill>
          <a:ln w="12700">
            <a:solidFill>
              <a:srgbClr val="00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67728" y="2926080"/>
            <a:ext cx="131673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872A8"/>
                </a:solidFill>
                <a:latin typeface="Consolas"/>
              </a:rPr>
              <a:t>Kp 8.0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449056" y="2743200"/>
            <a:ext cx="1920240" cy="749808"/>
          </a:xfrm>
          <a:prstGeom prst="roundRect">
            <a:avLst/>
          </a:prstGeom>
          <a:solidFill>
            <a:srgbClr val="01140A"/>
          </a:solidFill>
          <a:ln w="1270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40496" y="2907792"/>
            <a:ext cx="17373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FF88"/>
                </a:solidFill>
                <a:latin typeface="Consolas"/>
              </a:rPr>
              <a:t>6h avg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479024" y="2743200"/>
            <a:ext cx="1371600" cy="749808"/>
          </a:xfrm>
          <a:prstGeom prst="roundRect">
            <a:avLst/>
          </a:prstGeom>
          <a:solidFill>
            <a:srgbClr val="081830"/>
          </a:solidFill>
          <a:ln w="12700">
            <a:solidFill>
              <a:srgbClr val="00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570464" y="2926080"/>
            <a:ext cx="1188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0D4FF"/>
                </a:solidFill>
                <a:latin typeface="Consolas"/>
              </a:rPr>
              <a:t>216 alerts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47472" y="3657600"/>
            <a:ext cx="868680" cy="749808"/>
          </a:xfrm>
          <a:prstGeom prst="roundRect">
            <a:avLst/>
          </a:prstGeom>
          <a:solidFill>
            <a:srgbClr val="081830"/>
          </a:solidFill>
          <a:ln w="12700">
            <a:solidFill>
              <a:srgbClr val="FFD2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5760" y="3840480"/>
            <a:ext cx="8412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D23F"/>
                </a:solidFill>
                <a:latin typeface="Consolas"/>
              </a:rPr>
              <a:t>2017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325880" y="3657600"/>
            <a:ext cx="5440680" cy="749808"/>
          </a:xfrm>
          <a:prstGeom prst="roundRect">
            <a:avLst/>
          </a:prstGeom>
          <a:solidFill>
            <a:srgbClr val="061222"/>
          </a:solidFill>
          <a:ln w="12700">
            <a:solidFill>
              <a:srgbClr val="00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463040" y="3840480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2E2FF"/>
                </a:solidFill>
                <a:latin typeface="Calibri Light"/>
              </a:rPr>
              <a:t>September X9.3 Flare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876288" y="3657600"/>
            <a:ext cx="1463040" cy="749808"/>
          </a:xfrm>
          <a:prstGeom prst="roundRect">
            <a:avLst/>
          </a:prstGeom>
          <a:solidFill>
            <a:srgbClr val="081830"/>
          </a:solidFill>
          <a:ln w="12700">
            <a:solidFill>
              <a:srgbClr val="00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967728" y="3840480"/>
            <a:ext cx="131673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872A8"/>
                </a:solidFill>
                <a:latin typeface="Consolas"/>
              </a:rPr>
              <a:t>Kp 8.0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449056" y="3657600"/>
            <a:ext cx="1920240" cy="749808"/>
          </a:xfrm>
          <a:prstGeom prst="roundRect">
            <a:avLst/>
          </a:prstGeom>
          <a:solidFill>
            <a:srgbClr val="01140A"/>
          </a:solidFill>
          <a:ln w="1270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540496" y="3822191"/>
            <a:ext cx="17373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FF88"/>
                </a:solidFill>
                <a:latin typeface="Consolas"/>
              </a:rPr>
              <a:t>5h avg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479024" y="3657600"/>
            <a:ext cx="1371600" cy="749808"/>
          </a:xfrm>
          <a:prstGeom prst="roundRect">
            <a:avLst/>
          </a:prstGeom>
          <a:solidFill>
            <a:srgbClr val="081830"/>
          </a:solidFill>
          <a:ln w="12700">
            <a:solidFill>
              <a:srgbClr val="00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570464" y="3840480"/>
            <a:ext cx="1188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D23F"/>
                </a:solidFill>
                <a:latin typeface="Consolas"/>
              </a:rPr>
              <a:t>192 alerts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47472" y="4572000"/>
            <a:ext cx="868680" cy="749808"/>
          </a:xfrm>
          <a:prstGeom prst="roundRect">
            <a:avLst/>
          </a:prstGeom>
          <a:solidFill>
            <a:srgbClr val="081830"/>
          </a:solidFill>
          <a:ln w="12700">
            <a:solidFill>
              <a:srgbClr val="FF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65760" y="4754880"/>
            <a:ext cx="8412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2D4A"/>
                </a:solidFill>
                <a:latin typeface="Consolas"/>
              </a:rPr>
              <a:t>2024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325880" y="4572000"/>
            <a:ext cx="5440680" cy="749808"/>
          </a:xfrm>
          <a:prstGeom prst="roundRect">
            <a:avLst/>
          </a:prstGeom>
          <a:solidFill>
            <a:srgbClr val="061222"/>
          </a:solidFill>
          <a:ln w="12700">
            <a:solidFill>
              <a:srgbClr val="00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463040" y="4754880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2D4A"/>
                </a:solidFill>
                <a:latin typeface="Calibri Light"/>
              </a:rPr>
              <a:t>May G5  [SOURCE]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876288" y="4572000"/>
            <a:ext cx="1463040" cy="749808"/>
          </a:xfrm>
          <a:prstGeom prst="roundRect">
            <a:avLst/>
          </a:prstGeom>
          <a:solidFill>
            <a:srgbClr val="081830"/>
          </a:solidFill>
          <a:ln w="12700">
            <a:solidFill>
              <a:srgbClr val="00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967728" y="4754880"/>
            <a:ext cx="131673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872A8"/>
                </a:solidFill>
                <a:latin typeface="Consolas"/>
              </a:rPr>
              <a:t>Kp 9.0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449056" y="4572000"/>
            <a:ext cx="1920240" cy="749808"/>
          </a:xfrm>
          <a:prstGeom prst="roundRect">
            <a:avLst/>
          </a:prstGeom>
          <a:solidFill>
            <a:srgbClr val="01140A"/>
          </a:solidFill>
          <a:ln w="1270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540496" y="4736592"/>
            <a:ext cx="17373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FF88"/>
                </a:solidFill>
                <a:latin typeface="Consolas"/>
              </a:rPr>
              <a:t>4.5h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0479024" y="4572000"/>
            <a:ext cx="1371600" cy="749808"/>
          </a:xfrm>
          <a:prstGeom prst="roundRect">
            <a:avLst/>
          </a:prstGeom>
          <a:solidFill>
            <a:srgbClr val="081830"/>
          </a:solidFill>
          <a:ln w="12700">
            <a:solidFill>
              <a:srgbClr val="00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570464" y="4754880"/>
            <a:ext cx="1188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2D4A"/>
                </a:solidFill>
                <a:latin typeface="Consolas"/>
              </a:rPr>
              <a:t>145 alerts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47472" y="1572768"/>
            <a:ext cx="868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872A8"/>
                </a:solidFill>
                <a:latin typeface="Consolas"/>
              </a:rPr>
              <a:t>YEAR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325880" y="1572768"/>
            <a:ext cx="5440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872A8"/>
                </a:solidFill>
                <a:latin typeface="Consolas"/>
              </a:rPr>
              <a:t>STORM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876288" y="1572768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872A8"/>
                </a:solidFill>
                <a:latin typeface="Consolas"/>
              </a:rPr>
              <a:t>Kp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449056" y="1572768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872A8"/>
                </a:solidFill>
                <a:latin typeface="Consolas"/>
              </a:rPr>
              <a:t>WARNING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479024" y="1572768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872A8"/>
                </a:solidFill>
                <a:latin typeface="Consolas"/>
              </a:rPr>
              <a:t>ALERTS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347472" y="5742432"/>
            <a:ext cx="3749039" cy="914400"/>
          </a:xfrm>
          <a:prstGeom prst="roundRect">
            <a:avLst/>
          </a:prstGeom>
          <a:solidFill>
            <a:srgbClr val="081830"/>
          </a:solidFill>
          <a:ln w="12700">
            <a:solidFill>
              <a:srgbClr val="002A44"/>
            </a:solidFill>
          </a:ln>
          <a:effectLst>
            <a:outerShdw blurRad="63500" dist="30000" dir="5400000" algn="ctr" rotWithShape="0">
              <a:srgbClr val="000000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57200" y="5833872"/>
            <a:ext cx="3547871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2D4A"/>
                </a:solidFill>
                <a:latin typeface="Consolas"/>
              </a:rPr>
              <a:t>847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38912" y="6336792"/>
            <a:ext cx="358444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872A8"/>
                </a:solidFill>
                <a:latin typeface="Calibri Light"/>
              </a:rPr>
              <a:t>total alerts fired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4297680" y="5742432"/>
            <a:ext cx="3749039" cy="914400"/>
          </a:xfrm>
          <a:prstGeom prst="roundRect">
            <a:avLst/>
          </a:prstGeom>
          <a:solidFill>
            <a:srgbClr val="081830"/>
          </a:solidFill>
          <a:ln w="12700">
            <a:solidFill>
              <a:srgbClr val="002A44"/>
            </a:solidFill>
          </a:ln>
          <a:effectLst>
            <a:outerShdw blurRad="63500" dist="30000" dir="5400000" algn="ctr" rotWithShape="0">
              <a:srgbClr val="000000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407408" y="5833872"/>
            <a:ext cx="3547871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D23F"/>
                </a:solidFill>
                <a:latin typeface="Consolas"/>
              </a:rPr>
              <a:t>12,400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389120" y="6336792"/>
            <a:ext cx="358444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872A8"/>
                </a:solidFill>
                <a:latin typeface="Calibri Light"/>
              </a:rPr>
              <a:t>subscribers per storm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8247888" y="5742432"/>
            <a:ext cx="3749039" cy="914400"/>
          </a:xfrm>
          <a:prstGeom prst="roundRect">
            <a:avLst/>
          </a:prstGeom>
          <a:solidFill>
            <a:srgbClr val="081830"/>
          </a:solidFill>
          <a:ln w="12700">
            <a:solidFill>
              <a:srgbClr val="002A44"/>
            </a:solidFill>
          </a:ln>
          <a:effectLst>
            <a:outerShdw blurRad="63500" dist="30000" dir="5400000" algn="ctr" rotWithShape="0">
              <a:srgbClr val="000000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357616" y="5833872"/>
            <a:ext cx="3547871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00FF88"/>
                </a:solidFill>
                <a:latin typeface="Consolas"/>
              </a:rPr>
              <a:t>6h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339328" y="6336792"/>
            <a:ext cx="358444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872A8"/>
                </a:solidFill>
                <a:latin typeface="Calibri Light"/>
              </a:rPr>
              <a:t>average warning window</a:t>
            </a:r>
          </a:p>
        </p:txBody>
      </p:sp>
      <p:sp>
        <p:nvSpPr>
          <p:cNvPr id="61" name="Rectangle 60"/>
          <p:cNvSpPr/>
          <p:nvPr/>
        </p:nvSpPr>
        <p:spPr>
          <a:xfrm>
            <a:off x="0" y="6821424"/>
            <a:ext cx="12188952" cy="2743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8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D4FF"/>
                </a:solidFill>
                <a:latin typeface="Consolas"/>
              </a:rPr>
              <a:t>DAILY SHIELD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81360" y="6510528"/>
            <a:ext cx="1188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872A8"/>
                </a:solidFill>
                <a:latin typeface="Consolas"/>
              </a:rPr>
              <a:t>09/12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77724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 i="0">
                <a:solidFill>
                  <a:srgbClr val="E2E2FF"/>
                </a:solidFill>
                <a:latin typeface="Calibri Light"/>
              </a:rPr>
              <a:t>365 days a year.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61872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6872A8"/>
                </a:solidFill>
                <a:latin typeface="Calibri Light"/>
              </a:rPr>
              <a:t>Space Weather Score  |  6:30 AM IST  |  Hindi + English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4048" y="1828800"/>
            <a:ext cx="5596128" cy="786384"/>
          </a:xfrm>
          <a:prstGeom prst="roundRect">
            <a:avLst/>
          </a:prstGeom>
          <a:solidFill>
            <a:srgbClr val="081830"/>
          </a:solidFill>
          <a:ln w="12700">
            <a:solidFill>
              <a:srgbClr val="002A44"/>
            </a:solidFill>
          </a:ln>
          <a:effectLst>
            <a:outerShdw blurRad="63500" dist="30000" dir="5400000" algn="ctr" rotWithShape="0">
              <a:srgbClr val="000000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21207" y="1920240"/>
            <a:ext cx="9601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0D4FF"/>
                </a:solidFill>
                <a:latin typeface="Consolas"/>
              </a:rPr>
              <a:t>0-100</a:t>
            </a:r>
          </a:p>
        </p:txBody>
      </p:sp>
      <p:sp>
        <p:nvSpPr>
          <p:cNvPr id="9" name="Rectangle 8"/>
          <p:cNvSpPr/>
          <p:nvPr/>
        </p:nvSpPr>
        <p:spPr>
          <a:xfrm>
            <a:off x="1554480" y="1956816"/>
            <a:ext cx="18288" cy="548640"/>
          </a:xfrm>
          <a:prstGeom prst="rect">
            <a:avLst/>
          </a:prstGeom>
          <a:solidFill>
            <a:srgbClr val="00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45919" y="1901952"/>
            <a:ext cx="417880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FF"/>
                </a:solidFill>
                <a:latin typeface="Calibri Light"/>
              </a:rPr>
              <a:t>Space Weather Score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19" y="2304288"/>
            <a:ext cx="417880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2FF"/>
                </a:solidFill>
                <a:latin typeface="Calibri Light"/>
              </a:rPr>
              <a:t>India's space weather AQI
Green 80+ = normal ops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4048" y="2724912"/>
            <a:ext cx="5596128" cy="786384"/>
          </a:xfrm>
          <a:prstGeom prst="roundRect">
            <a:avLst/>
          </a:prstGeom>
          <a:solidFill>
            <a:srgbClr val="081830"/>
          </a:solidFill>
          <a:ln w="12700">
            <a:solidFill>
              <a:srgbClr val="002A44"/>
            </a:solidFill>
          </a:ln>
          <a:effectLst>
            <a:outerShdw blurRad="63500" dist="30000" dir="5400000" algn="ctr" rotWithShape="0">
              <a:srgbClr val="000000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1207" y="2816352"/>
            <a:ext cx="9601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0FF88"/>
                </a:solidFill>
                <a:latin typeface="Consolas"/>
              </a:rPr>
              <a:t>GPS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554480" y="2852928"/>
            <a:ext cx="18288" cy="548640"/>
          </a:xfrm>
          <a:prstGeom prst="rect">
            <a:avLst/>
          </a:prstGeom>
          <a:solidFill>
            <a:srgbClr val="00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645919" y="2798064"/>
            <a:ext cx="417880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FF88"/>
                </a:solidFill>
                <a:latin typeface="Calibri Light"/>
              </a:rPr>
              <a:t>GPS Accuracy Forecast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19" y="3200400"/>
            <a:ext cx="417880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2FF"/>
                </a:solidFill>
                <a:latin typeface="Calibri Light"/>
              </a:rPr>
              <a:t>Precision ag tractors
Fishing boat GPS alert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84048" y="3621024"/>
            <a:ext cx="5596128" cy="786384"/>
          </a:xfrm>
          <a:prstGeom prst="roundRect">
            <a:avLst/>
          </a:prstGeom>
          <a:solidFill>
            <a:srgbClr val="081830"/>
          </a:solidFill>
          <a:ln w="12700">
            <a:solidFill>
              <a:srgbClr val="002A44"/>
            </a:solidFill>
          </a:ln>
          <a:effectLst>
            <a:outerShdw blurRad="63500" dist="30000" dir="5400000" algn="ctr" rotWithShape="0">
              <a:srgbClr val="000000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1207" y="3712463"/>
            <a:ext cx="9601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D23F"/>
                </a:solidFill>
                <a:latin typeface="Consolas"/>
              </a:rPr>
              <a:t>GRID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554480" y="3749039"/>
            <a:ext cx="18288" cy="548640"/>
          </a:xfrm>
          <a:prstGeom prst="rect">
            <a:avLst/>
          </a:prstGeom>
          <a:solidFill>
            <a:srgbClr val="00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45919" y="3694176"/>
            <a:ext cx="417880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D23F"/>
                </a:solidFill>
                <a:latin typeface="Calibri Light"/>
              </a:rPr>
              <a:t>DISCOM Risk Zones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45919" y="4096512"/>
            <a:ext cx="417880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2FF"/>
                </a:solidFill>
                <a:latin typeface="Calibri Light"/>
              </a:rPr>
              <a:t>Per-zone transformer risk
Operator dashboard feed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84048" y="4517136"/>
            <a:ext cx="5596128" cy="786384"/>
          </a:xfrm>
          <a:prstGeom prst="roundRect">
            <a:avLst/>
          </a:prstGeom>
          <a:solidFill>
            <a:srgbClr val="081830"/>
          </a:solidFill>
          <a:ln w="12700">
            <a:solidFill>
              <a:srgbClr val="002A44"/>
            </a:solidFill>
          </a:ln>
          <a:effectLst>
            <a:outerShdw blurRad="63500" dist="30000" dir="5400000" algn="ctr" rotWithShape="0">
              <a:srgbClr val="000000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21207" y="4608575"/>
            <a:ext cx="9601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0FF88"/>
                </a:solidFill>
                <a:latin typeface="Consolas"/>
              </a:rPr>
              <a:t>AUR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554480" y="4645151"/>
            <a:ext cx="18288" cy="548640"/>
          </a:xfrm>
          <a:prstGeom prst="rect">
            <a:avLst/>
          </a:prstGeom>
          <a:solidFill>
            <a:srgbClr val="00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45919" y="4590288"/>
            <a:ext cx="417880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FF88"/>
                </a:solidFill>
                <a:latin typeface="Calibri Light"/>
              </a:rPr>
              <a:t>Aurora Visibility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45919" y="4992623"/>
            <a:ext cx="417880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2FF"/>
                </a:solidFill>
                <a:latin typeface="Calibri Light"/>
              </a:rPr>
              <a:t>6 Himalayan locations
Kp-based prediction nightly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84048" y="5413248"/>
            <a:ext cx="5596128" cy="786384"/>
          </a:xfrm>
          <a:prstGeom prst="roundRect">
            <a:avLst/>
          </a:prstGeom>
          <a:solidFill>
            <a:srgbClr val="081830"/>
          </a:solidFill>
          <a:ln w="12700">
            <a:solidFill>
              <a:srgbClr val="002A44"/>
            </a:solidFill>
          </a:ln>
          <a:effectLst>
            <a:outerShdw blurRad="63500" dist="30000" dir="5400000" algn="ctr" rotWithShape="0">
              <a:srgbClr val="000000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21207" y="5504688"/>
            <a:ext cx="9601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E2E2FF"/>
                </a:solidFill>
                <a:latin typeface="Consolas"/>
              </a:rPr>
              <a:t>LANG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554480" y="5541264"/>
            <a:ext cx="18288" cy="548640"/>
          </a:xfrm>
          <a:prstGeom prst="rect">
            <a:avLst/>
          </a:prstGeom>
          <a:solidFill>
            <a:srgbClr val="00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645919" y="5486400"/>
            <a:ext cx="417880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2E2FF"/>
                </a:solidFill>
                <a:latin typeface="Calibri Light"/>
              </a:rPr>
              <a:t>Bilingual Brief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645919" y="5888736"/>
            <a:ext cx="417880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2FF"/>
                </a:solidFill>
                <a:latin typeface="Calibri Light"/>
              </a:rPr>
              <a:t>Hindi for farmers
English for DISCOM operators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36208" y="566928"/>
            <a:ext cx="5760720" cy="6053328"/>
          </a:xfrm>
          <a:prstGeom prst="roundRect">
            <a:avLst/>
          </a:prstGeom>
          <a:gradFill>
            <a:gsLst>
              <a:gs pos="0">
                <a:srgbClr val="020c1c"/>
              </a:gs>
              <a:gs pos="100000">
                <a:srgbClr val="03101e"/>
              </a:gs>
            </a:gsLst>
            <a:lin ang="10800000" scaled="0"/>
          </a:gradFill>
          <a:ln w="19050">
            <a:solidFill>
              <a:srgbClr val="00D4FF"/>
            </a:solidFill>
          </a:ln>
          <a:effectLst>
            <a:outerShdw blurRad="63500" dist="30000" dir="5400000" algn="ctr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6208" y="566928"/>
            <a:ext cx="5760720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236208" y="621792"/>
            <a:ext cx="5760720" cy="438912"/>
          </a:xfrm>
          <a:prstGeom prst="rect">
            <a:avLst/>
          </a:prstGeom>
          <a:solidFill>
            <a:srgbClr val="081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19088" y="676656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FF"/>
                </a:solidFill>
                <a:latin typeface="Consolas"/>
              </a:rPr>
              <a:t>KAVACH  [ 06:30 AM IST ]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625328" y="676656"/>
            <a:ext cx="1188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00FF88"/>
                </a:solidFill>
                <a:latin typeface="Consolas"/>
              </a:rPr>
              <a:t>NOMINAL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19088" y="1188720"/>
            <a:ext cx="5413248" cy="1737360"/>
          </a:xfrm>
          <a:prstGeom prst="roundRect">
            <a:avLst/>
          </a:prstGeom>
          <a:solidFill>
            <a:srgbClr val="011006"/>
          </a:solidFill>
          <a:ln w="1270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92240" y="1280160"/>
            <a:ext cx="5257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 i="0">
                <a:solidFill>
                  <a:srgbClr val="00FF88"/>
                </a:solidFill>
                <a:latin typeface="Consolas"/>
              </a:rPr>
              <a:t>95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92240" y="2304288"/>
            <a:ext cx="5257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FF88"/>
                </a:solidFill>
                <a:latin typeface="Consolas"/>
              </a:rPr>
              <a:t>/ 100   SHIELD NOMINAL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437376" y="3090672"/>
            <a:ext cx="1737360" cy="347472"/>
          </a:xfrm>
          <a:prstGeom prst="roundRect">
            <a:avLst/>
          </a:prstGeom>
          <a:solidFill>
            <a:srgbClr val="081830"/>
          </a:solidFill>
          <a:ln w="12700">
            <a:solidFill>
              <a:srgbClr val="0055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10528" y="3163824"/>
            <a:ext cx="1600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0FF88"/>
                </a:solidFill>
                <a:latin typeface="Consolas"/>
              </a:rPr>
              <a:t>GPS OK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284464" y="3090672"/>
            <a:ext cx="1737360" cy="347472"/>
          </a:xfrm>
          <a:prstGeom prst="roundRect">
            <a:avLst/>
          </a:prstGeom>
          <a:solidFill>
            <a:srgbClr val="081830"/>
          </a:solidFill>
          <a:ln w="12700">
            <a:solidFill>
              <a:srgbClr val="0055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357616" y="3163824"/>
            <a:ext cx="1600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0FF88"/>
                </a:solidFill>
                <a:latin typeface="Consolas"/>
              </a:rPr>
              <a:t>GRID OK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0131552" y="3090672"/>
            <a:ext cx="1737360" cy="347472"/>
          </a:xfrm>
          <a:prstGeom prst="roundRect">
            <a:avLst/>
          </a:prstGeom>
          <a:solidFill>
            <a:srgbClr val="081830"/>
          </a:solidFill>
          <a:ln w="12700">
            <a:solidFill>
              <a:srgbClr val="0055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204704" y="3163824"/>
            <a:ext cx="1600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872A8"/>
                </a:solidFill>
                <a:latin typeface="Consolas"/>
              </a:rPr>
              <a:t>AURORA LOW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419088" y="3584448"/>
            <a:ext cx="5413248" cy="2359152"/>
          </a:xfrm>
          <a:prstGeom prst="roundRect">
            <a:avLst/>
          </a:prstGeom>
          <a:solidFill>
            <a:srgbClr val="020E1A"/>
          </a:solidFill>
          <a:ln w="12700">
            <a:solidFill>
              <a:srgbClr val="00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528816" y="3694176"/>
            <a:ext cx="521208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FF88"/>
                </a:solidFill>
                <a:latin typeface="Consolas"/>
              </a:rPr>
              <a:t>KAVACH Suraksha Sandesh
Tanikh: Aaj
Aaj ka Score: 95 / 100
GPS: Sahi  |  Grid: Surakshit
Koi solar toofan nahi
KAVACH active hai.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419088" y="6053328"/>
            <a:ext cx="5413248" cy="384048"/>
          </a:xfrm>
          <a:prstGeom prst="roundRect">
            <a:avLst/>
          </a:prstGeom>
          <a:solidFill>
            <a:srgbClr val="0055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492240" y="6108192"/>
            <a:ext cx="5257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0FF88"/>
                </a:solidFill>
                <a:latin typeface="Consolas"/>
              </a:rPr>
              <a:t>INDIA'S SPACE WEATHER AQI  |  DAILY AT 06:30 IST</a:t>
            </a:r>
          </a:p>
        </p:txBody>
      </p:sp>
      <p:sp>
        <p:nvSpPr>
          <p:cNvPr id="50" name="Rectangle 49"/>
          <p:cNvSpPr/>
          <p:nvPr/>
        </p:nvSpPr>
        <p:spPr>
          <a:xfrm>
            <a:off x="0" y="6821424"/>
            <a:ext cx="12188952" cy="2743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8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D4FF"/>
                </a:solidFill>
                <a:latin typeface="Consolas"/>
              </a:rPr>
              <a:t>REVENUE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81360" y="6510528"/>
            <a:ext cx="1188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872A8"/>
                </a:solidFill>
                <a:latin typeface="Consolas"/>
              </a:rPr>
              <a:t>10/12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11480" y="457200"/>
            <a:ext cx="11384280" cy="960120"/>
          </a:xfrm>
          <a:prstGeom prst="roundRect">
            <a:avLst/>
          </a:prstGeom>
          <a:gradFill>
            <a:gsLst>
              <a:gs pos="0">
                <a:srgbClr val="011408"/>
              </a:gs>
              <a:gs pos="100000">
                <a:srgbClr val="001c08"/>
              </a:gs>
            </a:gsLst>
            <a:lin ang="0" scaled="0"/>
          </a:gradFill>
          <a:ln w="25400">
            <a:solidFill>
              <a:srgbClr val="00FF88"/>
            </a:solidFill>
          </a:ln>
          <a:effectLst>
            <a:outerShdw blurRad="63500" dist="30000" dir="5400000" algn="ctr" rotWithShape="0">
              <a:srgbClr val="00000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530352"/>
            <a:ext cx="109728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00FF88"/>
                </a:solidFill>
                <a:latin typeface="Consolas"/>
              </a:rPr>
              <a:t>600x  ROI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0876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6872A8"/>
                </a:solidFill>
                <a:latin typeface="Calibri Light"/>
              </a:rPr>
              <a:t>Rs.5L/month subscription  protects  Rs.3,000 Cr in transformer assets per DISCOM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2084831"/>
            <a:ext cx="1938528" cy="822960"/>
          </a:xfrm>
          <a:prstGeom prst="roundRect">
            <a:avLst/>
          </a:prstGeom>
          <a:solidFill>
            <a:srgbClr val="081830"/>
          </a:solidFill>
          <a:ln w="12700">
            <a:solidFill>
              <a:srgbClr val="00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2267712"/>
            <a:ext cx="1783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E2E2FF"/>
                </a:solidFill>
                <a:latin typeface="Consolas"/>
              </a:rPr>
              <a:t>FREE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468880" y="2084831"/>
            <a:ext cx="3291840" cy="822960"/>
          </a:xfrm>
          <a:prstGeom prst="roundRect">
            <a:avLst/>
          </a:prstGeom>
          <a:solidFill>
            <a:srgbClr val="061222"/>
          </a:solidFill>
          <a:ln w="12700">
            <a:solidFill>
              <a:srgbClr val="00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96896" y="2267712"/>
            <a:ext cx="309067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2FF"/>
                </a:solidFill>
                <a:latin typeface="Calibri Light"/>
              </a:rPr>
              <a:t>Citizens / Farmers / Fishermen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70448" y="2084831"/>
            <a:ext cx="4005072" cy="822960"/>
          </a:xfrm>
          <a:prstGeom prst="roundRect">
            <a:avLst/>
          </a:prstGeom>
          <a:solidFill>
            <a:srgbClr val="061222"/>
          </a:solidFill>
          <a:ln w="12700">
            <a:solidFill>
              <a:srgbClr val="00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98464" y="2267712"/>
            <a:ext cx="3785615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872A8"/>
                </a:solidFill>
                <a:latin typeface="Calibri Light"/>
              </a:rPr>
              <a:t>Public alerts + Hindi voice calls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985248" y="2084831"/>
            <a:ext cx="1828800" cy="822960"/>
          </a:xfrm>
          <a:prstGeom prst="roundRect">
            <a:avLst/>
          </a:prstGeom>
          <a:solidFill>
            <a:srgbClr val="081830"/>
          </a:solidFill>
          <a:ln w="12700">
            <a:solidFill>
              <a:srgbClr val="00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0" y="2267712"/>
            <a:ext cx="1682496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E2E2FF"/>
                </a:solidFill>
                <a:latin typeface="Consolas"/>
              </a:rPr>
              <a:t>Rs. 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1480" y="3090672"/>
            <a:ext cx="1938528" cy="822960"/>
          </a:xfrm>
          <a:prstGeom prst="roundRect">
            <a:avLst/>
          </a:prstGeom>
          <a:solidFill>
            <a:srgbClr val="081830"/>
          </a:solidFill>
          <a:ln w="12700">
            <a:solidFill>
              <a:srgbClr val="005C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3273552"/>
            <a:ext cx="1783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D4FF"/>
                </a:solidFill>
                <a:latin typeface="Consolas"/>
              </a:rPr>
              <a:t>DISCOM API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468880" y="3090672"/>
            <a:ext cx="3291840" cy="822960"/>
          </a:xfrm>
          <a:prstGeom prst="roundRect">
            <a:avLst/>
          </a:prstGeom>
          <a:solidFill>
            <a:srgbClr val="061222"/>
          </a:solidFill>
          <a:ln w="12700">
            <a:solidFill>
              <a:srgbClr val="00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596896" y="3273552"/>
            <a:ext cx="309067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2FF"/>
                </a:solidFill>
                <a:latin typeface="Calibri Light"/>
              </a:rPr>
              <a:t>28 Electricity Utilities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870448" y="3090672"/>
            <a:ext cx="4005072" cy="822960"/>
          </a:xfrm>
          <a:prstGeom prst="roundRect">
            <a:avLst/>
          </a:prstGeom>
          <a:solidFill>
            <a:srgbClr val="061222"/>
          </a:solidFill>
          <a:ln w="12700">
            <a:solidFill>
              <a:srgbClr val="00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98464" y="3273552"/>
            <a:ext cx="3785615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872A8"/>
                </a:solidFill>
                <a:latin typeface="Calibri Light"/>
              </a:rPr>
              <a:t>72h forecast + SCADA integration + Portal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985248" y="3090672"/>
            <a:ext cx="1828800" cy="822960"/>
          </a:xfrm>
          <a:prstGeom prst="roundRect">
            <a:avLst/>
          </a:prstGeom>
          <a:solidFill>
            <a:srgbClr val="081830"/>
          </a:solidFill>
          <a:ln w="12700">
            <a:solidFill>
              <a:srgbClr val="005C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0" y="3273552"/>
            <a:ext cx="1682496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D4FF"/>
                </a:solidFill>
                <a:latin typeface="Consolas"/>
              </a:rPr>
              <a:t>Rs.2-5L/month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11480" y="4096512"/>
            <a:ext cx="1938528" cy="822960"/>
          </a:xfrm>
          <a:prstGeom prst="roundRect">
            <a:avLst/>
          </a:prstGeom>
          <a:solidFill>
            <a:srgbClr val="081830"/>
          </a:solidFill>
          <a:ln w="12700">
            <a:solidFill>
              <a:srgbClr val="0055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4279392"/>
            <a:ext cx="1783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FF88"/>
                </a:solidFill>
                <a:latin typeface="Consolas"/>
              </a:rPr>
              <a:t>5 DISCOMs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468880" y="4096512"/>
            <a:ext cx="3291840" cy="822960"/>
          </a:xfrm>
          <a:prstGeom prst="roundRect">
            <a:avLst/>
          </a:prstGeom>
          <a:solidFill>
            <a:srgbClr val="061222"/>
          </a:solidFill>
          <a:ln w="12700">
            <a:solidFill>
              <a:srgbClr val="00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596896" y="4279392"/>
            <a:ext cx="309067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2FF"/>
                </a:solidFill>
                <a:latin typeface="Calibri Light"/>
              </a:rPr>
              <a:t>Year 1 anchor contracts (target)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870448" y="4096512"/>
            <a:ext cx="4005072" cy="822960"/>
          </a:xfrm>
          <a:prstGeom prst="roundRect">
            <a:avLst/>
          </a:prstGeom>
          <a:solidFill>
            <a:srgbClr val="061222"/>
          </a:solidFill>
          <a:ln w="12700">
            <a:solidFill>
              <a:srgbClr val="00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98464" y="4279392"/>
            <a:ext cx="3785615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872A8"/>
                </a:solidFill>
                <a:latin typeface="Calibri Light"/>
              </a:rPr>
              <a:t>Pilot -&gt; ARR target -&gt; Round 2 expansion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985248" y="4096512"/>
            <a:ext cx="1828800" cy="822960"/>
          </a:xfrm>
          <a:prstGeom prst="roundRect">
            <a:avLst/>
          </a:prstGeom>
          <a:solidFill>
            <a:srgbClr val="081830"/>
          </a:solidFill>
          <a:ln w="12700">
            <a:solidFill>
              <a:srgbClr val="0055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058400" y="4279392"/>
            <a:ext cx="1682496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FF88"/>
                </a:solidFill>
                <a:latin typeface="Consolas"/>
              </a:rPr>
              <a:t>Rs.1.8Cr/year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11480" y="5102352"/>
            <a:ext cx="1938528" cy="822960"/>
          </a:xfrm>
          <a:prstGeom prst="roundRect">
            <a:avLst/>
          </a:prstGeom>
          <a:solidFill>
            <a:srgbClr val="081830"/>
          </a:solidFill>
          <a:ln w="12700">
            <a:solidFill>
              <a:srgbClr val="886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2920" y="5285232"/>
            <a:ext cx="1783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D23F"/>
                </a:solidFill>
                <a:latin typeface="Consolas"/>
              </a:rPr>
              <a:t>PHASE 2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468880" y="5102352"/>
            <a:ext cx="3291840" cy="822960"/>
          </a:xfrm>
          <a:prstGeom prst="roundRect">
            <a:avLst/>
          </a:prstGeom>
          <a:solidFill>
            <a:srgbClr val="061222"/>
          </a:solidFill>
          <a:ln w="12700">
            <a:solidFill>
              <a:srgbClr val="00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596896" y="5285232"/>
            <a:ext cx="309067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2FF"/>
                </a:solidFill>
                <a:latin typeface="Calibri Light"/>
              </a:rPr>
              <a:t>Aviation / Telecom / Insurance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870448" y="5102352"/>
            <a:ext cx="4005072" cy="822960"/>
          </a:xfrm>
          <a:prstGeom prst="roundRect">
            <a:avLst/>
          </a:prstGeom>
          <a:solidFill>
            <a:srgbClr val="061222"/>
          </a:solidFill>
          <a:ln w="12700">
            <a:solidFill>
              <a:srgbClr val="00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998464" y="5285232"/>
            <a:ext cx="3785615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872A8"/>
                </a:solidFill>
                <a:latin typeface="Calibri Light"/>
              </a:rPr>
              <a:t>DGCA + BSNL + LIC APIs as risk oracles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985248" y="5102352"/>
            <a:ext cx="1828800" cy="822960"/>
          </a:xfrm>
          <a:prstGeom prst="roundRect">
            <a:avLst/>
          </a:prstGeom>
          <a:solidFill>
            <a:srgbClr val="081830"/>
          </a:solidFill>
          <a:ln w="12700">
            <a:solidFill>
              <a:srgbClr val="886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058400" y="5285232"/>
            <a:ext cx="1682496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D23F"/>
                </a:solidFill>
                <a:latin typeface="Consolas"/>
              </a:rPr>
              <a:t>TBD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617220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00FF88"/>
                </a:solidFill>
                <a:latin typeface="Consolas"/>
              </a:rPr>
              <a:t>Rs.3,000 Cr  [transformer asset exposure]  vs  Rs.5L  [monthly subscription]  =  600x protection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11480" y="6053328"/>
            <a:ext cx="11384280" cy="54864"/>
          </a:xfrm>
          <a:prstGeom prst="rect">
            <a:avLst/>
          </a:prstGeom>
          <a:solidFill>
            <a:srgbClr val="00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11480" y="6053328"/>
            <a:ext cx="11365992" cy="54864"/>
          </a:xfrm>
          <a:prstGeom prst="rect">
            <a:avLst/>
          </a:prstGeom>
          <a:gradFill>
            <a:gsLst>
              <a:gs pos="0">
                <a:srgbClr val="00ff88"/>
              </a:gs>
              <a:gs pos="100000">
                <a:srgbClr val="004422"/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0" y="6821424"/>
            <a:ext cx="12188952" cy="27432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8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D4FF"/>
                </a:solidFill>
                <a:latin typeface="Consolas"/>
              </a:rPr>
              <a:t>FUTURE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81360" y="6510528"/>
            <a:ext cx="1188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872A8"/>
                </a:solidFill>
                <a:latin typeface="Consolas"/>
              </a:rPr>
              <a:t>11/12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 i="0">
                <a:solidFill>
                  <a:srgbClr val="E2E2FF"/>
                </a:solidFill>
                <a:latin typeface="Calibri Light"/>
              </a:rPr>
              <a:t>Round 2 / Tokyo.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4048" y="1353312"/>
            <a:ext cx="11411712" cy="1115568"/>
          </a:xfrm>
          <a:prstGeom prst="roundRect">
            <a:avLst/>
          </a:prstGeom>
          <a:gradFill>
            <a:gsLst>
              <a:gs pos="0">
                <a:srgbClr val="011408"/>
              </a:gs>
              <a:gs pos="100000">
                <a:srgbClr val="001c08"/>
              </a:gs>
            </a:gsLst>
            <a:lin ang="8100000" scaled="0"/>
          </a:gradFill>
          <a:ln w="19050">
            <a:solidFill>
              <a:srgbClr val="00FF88"/>
            </a:solidFill>
          </a:ln>
          <a:effectLst>
            <a:outerShdw blurRad="63500" dist="30000" dir="5400000" algn="ctr" rotWithShape="0">
              <a:srgbClr val="000000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84048" y="1353312"/>
            <a:ext cx="11411712" cy="50292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426464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FF88"/>
                </a:solidFill>
                <a:latin typeface="Consolas"/>
              </a:rPr>
              <a:t>FLAGSHIP  #1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700784"/>
            <a:ext cx="110642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FF88"/>
                </a:solidFill>
                <a:latin typeface="Calibri Light"/>
              </a:rPr>
              <a:t>Multi-Language:  Hindi  +  Tamil  +  Telugu  +  Marathi  +  Bengali  +  Punjabi  +  Gujarati  +  Kannada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4048" y="2670048"/>
            <a:ext cx="5468112" cy="1353312"/>
          </a:xfrm>
          <a:prstGeom prst="roundRect">
            <a:avLst/>
          </a:prstGeom>
          <a:solidFill>
            <a:srgbClr val="081830"/>
          </a:solidFill>
          <a:ln w="12700">
            <a:solidFill>
              <a:srgbClr val="005C8A"/>
            </a:solidFill>
          </a:ln>
          <a:effectLst>
            <a:outerShdw blurRad="63500" dist="30000" dir="5400000" algn="ctr" rotWithShape="0">
              <a:srgbClr val="000000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779776"/>
            <a:ext cx="960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D4FF"/>
                </a:solidFill>
                <a:latin typeface="Consolas"/>
              </a:rPr>
              <a:t>VEDAS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591056" y="2798064"/>
            <a:ext cx="22860" cy="502920"/>
          </a:xfrm>
          <a:prstGeom prst="rect">
            <a:avLst/>
          </a:prstGeom>
          <a:solidFill>
            <a:srgbClr val="00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700784" y="2779776"/>
            <a:ext cx="40050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FF"/>
                </a:solidFill>
                <a:latin typeface="Calibri Light"/>
              </a:rPr>
              <a:t>ISRO VEDAS Integration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00784" y="3200400"/>
            <a:ext cx="400507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872A8"/>
                </a:solidFill>
                <a:latin typeface="Calibri Light"/>
              </a:rPr>
              <a:t>India-specific ionospheric
scintillation data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2670048"/>
            <a:ext cx="5468112" cy="1353312"/>
          </a:xfrm>
          <a:prstGeom prst="roundRect">
            <a:avLst/>
          </a:prstGeom>
          <a:solidFill>
            <a:srgbClr val="081830"/>
          </a:solidFill>
          <a:ln w="12700">
            <a:solidFill>
              <a:srgbClr val="886A00"/>
            </a:solidFill>
          </a:ln>
          <a:effectLst>
            <a:outerShdw blurRad="63500" dist="30000" dir="5400000" algn="ctr" rotWithShape="0">
              <a:srgbClr val="000000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91072" y="2779776"/>
            <a:ext cx="960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D23F"/>
                </a:solidFill>
                <a:latin typeface="Consolas"/>
              </a:rPr>
              <a:t>WA/SMS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33488" y="2798064"/>
            <a:ext cx="22860" cy="502920"/>
          </a:xfrm>
          <a:prstGeom prst="rect">
            <a:avLst/>
          </a:prstGeom>
          <a:solidFill>
            <a:srgbClr val="00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43216" y="2779776"/>
            <a:ext cx="40050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D23F"/>
                </a:solidFill>
                <a:latin typeface="Calibri Light"/>
              </a:rPr>
              <a:t>WhatsApp + SMS Alerts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43216" y="3200400"/>
            <a:ext cx="400507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872A8"/>
                </a:solidFill>
                <a:latin typeface="Calibri Light"/>
              </a:rPr>
              <a:t>Multi-channel delivery
zero missed notifications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84048" y="4178808"/>
            <a:ext cx="5468112" cy="1353312"/>
          </a:xfrm>
          <a:prstGeom prst="roundRect">
            <a:avLst/>
          </a:prstGeom>
          <a:solidFill>
            <a:srgbClr val="081830"/>
          </a:solidFill>
          <a:ln w="12700">
            <a:solidFill>
              <a:srgbClr val="005538"/>
            </a:solidFill>
          </a:ln>
          <a:effectLst>
            <a:outerShdw blurRad="63500" dist="30000" dir="5400000" algn="ctr" rotWithShape="0">
              <a:srgbClr val="000000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4288536"/>
            <a:ext cx="960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FF88"/>
                </a:solidFill>
                <a:latin typeface="Consolas"/>
              </a:rPr>
              <a:t>REPLY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591056" y="4306824"/>
            <a:ext cx="22860" cy="502920"/>
          </a:xfrm>
          <a:prstGeom prst="rect">
            <a:avLst/>
          </a:prstGeom>
          <a:solidFill>
            <a:srgbClr val="00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700784" y="4288536"/>
            <a:ext cx="40050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FF88"/>
                </a:solidFill>
                <a:latin typeface="Calibri Light"/>
              </a:rPr>
              <a:t>Two-Way Voice Reply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00784" y="4709160"/>
            <a:ext cx="400507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872A8"/>
                </a:solidFill>
                <a:latin typeface="Calibri Light"/>
              </a:rPr>
              <a:t>Farmer presses 1 to confirm
2 for help — KAVACH escalates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26480" y="4178808"/>
            <a:ext cx="5468112" cy="1353312"/>
          </a:xfrm>
          <a:prstGeom prst="roundRect">
            <a:avLst/>
          </a:prstGeom>
          <a:solidFill>
            <a:srgbClr val="081830"/>
          </a:solidFill>
          <a:ln w="12700">
            <a:solidFill>
              <a:srgbClr val="552200"/>
            </a:solidFill>
          </a:ln>
          <a:effectLst>
            <a:outerShdw blurRad="63500" dist="30000" dir="5400000" algn="ctr" rotWithShape="0">
              <a:srgbClr val="000000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91072" y="4288536"/>
            <a:ext cx="960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6B35"/>
                </a:solidFill>
                <a:latin typeface="Consolas"/>
              </a:rPr>
              <a:t>CME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33488" y="4306824"/>
            <a:ext cx="22860" cy="502920"/>
          </a:xfrm>
          <a:prstGeom prst="rect">
            <a:avLst/>
          </a:prstGeom>
          <a:solidFill>
            <a:srgbClr val="00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43216" y="4288536"/>
            <a:ext cx="40050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6B35"/>
                </a:solidFill>
                <a:latin typeface="Calibri Light"/>
              </a:rPr>
              <a:t>CME Transit Model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43216" y="4709160"/>
            <a:ext cx="400507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872A8"/>
                </a:solidFill>
                <a:latin typeface="Calibri Light"/>
              </a:rPr>
              <a:t>4-18h precise countdown
per-zone impact window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84048" y="5687568"/>
            <a:ext cx="11411712" cy="896112"/>
          </a:xfrm>
          <a:prstGeom prst="roundRect">
            <a:avLst/>
          </a:prstGeom>
          <a:solidFill>
            <a:srgbClr val="061222"/>
          </a:solidFill>
          <a:ln w="12700">
            <a:solidFill>
              <a:srgbClr val="005C8A"/>
            </a:solidFill>
          </a:ln>
          <a:effectLst>
            <a:outerShdw blurRad="63500" dist="30000" dir="5400000" algn="ctr" rotWithShape="0">
              <a:srgbClr val="000000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5760720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D4FF"/>
                </a:solidFill>
                <a:latin typeface="Consolas"/>
              </a:rPr>
              <a:t>SaaS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719072" y="5779008"/>
            <a:ext cx="22860" cy="502920"/>
          </a:xfrm>
          <a:prstGeom prst="rect">
            <a:avLst/>
          </a:prstGeom>
          <a:solidFill>
            <a:srgbClr val="00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828800" y="5760720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FF"/>
                </a:solidFill>
                <a:latin typeface="Calibri Light"/>
              </a:rPr>
              <a:t>DISCOM Operator Dashboard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828800" y="6163056"/>
            <a:ext cx="9784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872A8"/>
                </a:solidFill>
                <a:latin typeface="Calibri Light"/>
              </a:rPr>
              <a:t>Operator-facing SaaS portal  |  Custom alerting  |  SCADA integration  |  Contractual ARR path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821424"/>
            <a:ext cx="12188952" cy="2743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8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881360" y="6510528"/>
            <a:ext cx="1188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872A8"/>
                </a:solidFill>
                <a:latin typeface="Consolas"/>
              </a:rPr>
              <a:t>12/12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6576"/>
            <a:ext cx="12188952" cy="6784848"/>
          </a:xfrm>
          <a:prstGeom prst="rect">
            <a:avLst/>
          </a:prstGeom>
          <a:gradFill>
            <a:gsLst>
              <a:gs pos="0">
                <a:srgbClr val="030812"/>
              </a:gs>
              <a:gs pos="100000">
                <a:srgbClr val="041628"/>
              </a:gs>
            </a:gsLst>
            <a:lin ang="87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0116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D4FF"/>
                </a:solidFill>
                <a:latin typeface="Consolas"/>
              </a:rPr>
              <a:t>FAR AWAY 2026  |  TEAM 404_SHINOBI  |  SPACE &amp; AEROSPACE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658368"/>
            <a:ext cx="86868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0" b="1" i="0">
                <a:solidFill>
                  <a:srgbClr val="E2E2FF"/>
                </a:solidFill>
                <a:latin typeface="Calibri Light"/>
              </a:rPr>
              <a:t>KAVACH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" y="2633472"/>
            <a:ext cx="6858000" cy="45720"/>
          </a:xfrm>
          <a:prstGeom prst="rect">
            <a:avLst/>
          </a:prstGeom>
          <a:gradFill>
            <a:gsLst>
              <a:gs pos="0">
                <a:srgbClr val="00d4ff"/>
              </a:gs>
              <a:gs pos="100000">
                <a:srgbClr val="003355"/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88920"/>
            <a:ext cx="9601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6872A8"/>
                </a:solidFill>
                <a:latin typeface="Calibri Light"/>
              </a:rPr>
              <a:t>"It called the farmer before the lights went out."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493008"/>
            <a:ext cx="5596128" cy="1115568"/>
          </a:xfrm>
          <a:prstGeom prst="roundRect">
            <a:avLst/>
          </a:prstGeom>
          <a:solidFill>
            <a:srgbClr val="081830"/>
          </a:solidFill>
          <a:ln w="12700">
            <a:solidFill>
              <a:srgbClr val="005C8A"/>
            </a:solidFill>
          </a:ln>
          <a:effectLst>
            <a:outerShdw blurRad="63500" dist="30000" dir="5400000" algn="ctr" rotWithShape="0">
              <a:srgbClr val="000000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" y="3584448"/>
            <a:ext cx="5303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872A8"/>
                </a:solidFill>
                <a:latin typeface="Consolas"/>
              </a:rPr>
              <a:t>LIVE DEMO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3931920"/>
            <a:ext cx="53035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D4FF"/>
                </a:solidFill>
                <a:latin typeface="Calibri Light"/>
                <a:hlinkClick r:id="rId2"/>
              </a:rPr>
              <a:t>frontend-rust-xi-79.vercel.app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3493008"/>
            <a:ext cx="5596128" cy="1115568"/>
          </a:xfrm>
          <a:prstGeom prst="roundRect">
            <a:avLst/>
          </a:prstGeom>
          <a:solidFill>
            <a:srgbClr val="081830"/>
          </a:solidFill>
          <a:ln w="12700">
            <a:solidFill>
              <a:srgbClr val="005C8A"/>
            </a:solidFill>
          </a:ln>
          <a:effectLst>
            <a:outerShdw blurRad="63500" dist="30000" dir="5400000" algn="ctr" rotWithShape="0">
              <a:srgbClr val="000000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65392" y="3584448"/>
            <a:ext cx="5303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872A8"/>
                </a:solidFill>
                <a:latin typeface="Consolas"/>
              </a:rPr>
              <a:t>GITHUB REPO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65392" y="3931920"/>
            <a:ext cx="53035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D4FF"/>
                </a:solidFill>
                <a:latin typeface="Calibri Light"/>
                <a:hlinkClick r:id="rId3"/>
              </a:rPr>
              <a:t>github.com/VibhorJain1974/kavach-faraway-2026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4754879"/>
            <a:ext cx="5596128" cy="1115568"/>
          </a:xfrm>
          <a:prstGeom prst="roundRect">
            <a:avLst/>
          </a:prstGeom>
          <a:solidFill>
            <a:srgbClr val="081830"/>
          </a:solidFill>
          <a:ln w="12700">
            <a:solidFill>
              <a:srgbClr val="002A44"/>
            </a:solidFill>
          </a:ln>
          <a:effectLst>
            <a:outerShdw blurRad="63500" dist="30000" dir="5400000" algn="ctr" rotWithShape="0">
              <a:srgbClr val="000000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" y="4846319"/>
            <a:ext cx="5303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872A8"/>
                </a:solidFill>
                <a:latin typeface="Consolas"/>
              </a:rPr>
              <a:t>CONTACT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5193792"/>
            <a:ext cx="53035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872A8"/>
                </a:solidFill>
                <a:latin typeface="Calibri Light"/>
                <a:hlinkClick r:id="rId4"/>
              </a:rPr>
              <a:t>jvibhor202@gmail.com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4754879"/>
            <a:ext cx="5596128" cy="1115568"/>
          </a:xfrm>
          <a:prstGeom prst="roundRect">
            <a:avLst/>
          </a:prstGeom>
          <a:solidFill>
            <a:srgbClr val="081830"/>
          </a:solidFill>
          <a:ln w="12700">
            <a:solidFill>
              <a:srgbClr val="886A00"/>
            </a:solidFill>
          </a:ln>
          <a:effectLst>
            <a:outerShdw blurRad="63500" dist="30000" dir="5400000" algn="ctr" rotWithShape="0">
              <a:srgbClr val="000000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65392" y="4846319"/>
            <a:ext cx="5303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872A8"/>
                </a:solidFill>
                <a:latin typeface="Consolas"/>
              </a:rPr>
              <a:t>TEAM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65392" y="5193792"/>
            <a:ext cx="53035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D23F"/>
                </a:solidFill>
                <a:latin typeface="Calibri Light"/>
              </a:rPr>
              <a:t>404_SHINOBI  |  FAR AWAY 2026</a:t>
            </a:r>
          </a:p>
        </p:txBody>
      </p:sp>
      <p:pic>
        <p:nvPicPr>
          <p:cNvPr id="21" name="Picture 20" descr="07_demo_comple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06840" y="201168"/>
            <a:ext cx="2971800" cy="1856231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9006840" y="201168"/>
            <a:ext cx="2971800" cy="1856231"/>
          </a:xfrm>
          <a:prstGeom prst="rect">
            <a:avLst/>
          </a:prstGeom>
          <a:noFill/>
          <a:ln w="1905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34272" y="2121408"/>
            <a:ext cx="29443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00FF88"/>
                </a:solidFill>
                <a:latin typeface="Consolas"/>
              </a:rPr>
              <a:t>demo complete  |  all 28 zones warned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19963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872A8"/>
                </a:solidFill>
                <a:latin typeface="Consolas"/>
              </a:rPr>
              <a:t>Deploy: Vercel + Railway  |  Voice: Twilio + Amazon Polly Aditi  |  Data: NASA DONKI + NOAA SWPC + Local archive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821424"/>
            <a:ext cx="12188952" cy="2743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