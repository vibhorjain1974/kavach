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rontend-rust-xi-79.vercel.app" TargetMode="External"/><Relationship Id="rId3" Type="http://schemas.openxmlformats.org/officeDocument/2006/relationships/hyperlink" Target="https://github.com/VibhorJain1974/kavach-faraway-2026" TargetMode="External"/><Relationship Id="rId4" Type="http://schemas.openxmlformats.org/officeDocument/2006/relationships/hyperlink" Target="mailto:jvibhor202@gmail.com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01/12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"/>
            <a:ext cx="12188952" cy="420624"/>
          </a:xfrm>
          <a:prstGeom prst="rect">
            <a:avLst/>
          </a:prstGeom>
          <a:solidFill>
            <a:srgbClr val="02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SPACE &amp; AEROSPACE  |  TEAM 404_SHINOBI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91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872A8"/>
                </a:solidFill>
                <a:latin typeface="Consolas"/>
              </a:rPr>
              <a:t>14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8368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4466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D4FF"/>
                </a:solidFill>
                <a:latin typeface="Nirmala UI"/>
              </a:rPr>
              <a:t>कवच  —  Autonomous Space Weather Shield for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37560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Consolas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DISCOMs warned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12,400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Farmers per storm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Human 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06440"/>
            <a:ext cx="5349240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58521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LIVE: frontend-rust-xi-79.vercel.app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5806440"/>
            <a:ext cx="5779008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58521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onsolas"/>
              </a:rPr>
              <a:t>REPO: github.com/VibhorJain1974/kavach-faraway-2026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2D4A"/>
                </a:solidFill>
                <a:latin typeface="Calibri Light"/>
              </a:rPr>
              <a:t>Zero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1430000" cy="502920"/>
          </a:xfrm>
          <a:prstGeom prst="roundRect">
            <a:avLst/>
          </a:prstGeom>
          <a:gradFill>
            <a:gsLst>
              <a:gs pos="0">
                <a:srgbClr val="4a000e"/>
              </a:gs>
              <a:gs pos="100000">
                <a:srgbClr val="1a000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91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4A"/>
                </a:solidFill>
                <a:latin typeface="Consolas"/>
              </a:rPr>
              <a:t>May 10-11, 2024  |  Kp = 9.0  |  G5 EXTREME  |  India's grid nearly failed  |  0 warnings issued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7A0018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4A"/>
                </a:solidFill>
                <a:latin typeface="Consolas"/>
              </a:rPr>
              <a:t>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4A"/>
                </a:solidFill>
                <a:latin typeface="Calibri Light"/>
              </a:rPr>
              <a:t>No Indian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28 DISCOMs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Zero automated alerts
across all power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3F"/>
                </a:solidFill>
                <a:latin typeface="Consolas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alibri Light"/>
              </a:rPr>
              <a:t>Wrong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English-only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Internet-only western tools
useless at India's last mile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6633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onsola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 Light"/>
              </a:rPr>
              <a:t>Feature Phone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300M farmers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No smartphone, no internet
no way to receive any 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15000"/>
            <a:ext cx="11384280" cy="658368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2D4A"/>
                </a:solidFill>
                <a:latin typeface="Calibri Light"/>
              </a:rPr>
              <a:t>₹3,000 Cr transformer assets at risk every G5 event  |  4.5 hours of actionable warning window lost forever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03/12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D4FF"/>
                </a:solidFill>
                <a:latin typeface="Calibri Light"/>
              </a:rPr>
              <a:t>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onsolas"/>
              </a:rPr>
              <a:t>Autonomous  |  Real-time  |  Hindi voice  |  No human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NASA
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2514600"/>
            <a:ext cx="3017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Nirmala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NOAA
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514600"/>
            <a:ext cx="3017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Nirmala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2011680"/>
            <a:ext cx="1874519" cy="1261872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02244"/>
              </a:gs>
            </a:gsLst>
            <a:lin ang="10800000" scaled="0"/>
          </a:gradFill>
          <a:ln w="1270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 Light"/>
              </a:rPr>
              <a:t>KAVACH
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onsola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2514600"/>
            <a:ext cx="3017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Nirmala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7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23F"/>
                </a:solidFill>
                <a:latin typeface="Calibri Light"/>
              </a:rPr>
              <a:t>28
DISCOMs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warned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3" y="2514600"/>
            <a:ext cx="3017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Nirmala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88"/>
                </a:solidFill>
                <a:latin typeface="Calibri Light"/>
              </a:rPr>
              <a:t>Farmer
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no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onsolas"/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nsolas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NASA + NOAA
every 5–15 min
autonomously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23F"/>
                </a:solidFill>
                <a:latin typeface="Consolas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onsolas"/>
              </a:rPr>
              <a:t>MAP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28 zones
north-first
real DISCOM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88"/>
                </a:solidFill>
                <a:latin typeface="Consola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49056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onsolas"/>
              </a:rPr>
              <a:t>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Hindi TTS
feature phone
0 internet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98464"/>
            <a:ext cx="11384280" cy="475488"/>
          </a:xfrm>
          <a:prstGeom prst="roundRect">
            <a:avLst/>
          </a:prstGeom>
          <a:solidFill>
            <a:srgbClr val="011208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053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FF88"/>
                </a:solidFill>
                <a:latin typeface="Consolas"/>
              </a:rPr>
              <a:t>"Namaste. Main KAVACH bol raha hoon. Ek bada solar toofan aa raha hai. Bijli band kar dijiye."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04/12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5943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Four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Realtime  +  Predictive  +  Historical  + 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1912" y="1911095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1" y="1856231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1" y="2258568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Live India map  |  28 DISCOM zones  |  Kp gauge  |  alert 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8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3118104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1" y="306324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Predictor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1" y="3465576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Indian locations  |  Kp-based visibility  |  Hindi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97096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88536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SHD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4325112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1" y="427024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Daily Shield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1" y="4672583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Score 0-100  |  6:30 AM IST  |  GPS + grid + aurora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04104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95544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Consolas"/>
              </a:rPr>
              <a:t>MEM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1912" y="5532120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1" y="547725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Storm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1" y="5879592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4 storms since 2003  |  847 alerts fired  |  counterfactual</a:t>
            </a:r>
          </a:p>
        </p:txBody>
      </p:sp>
      <p:pic>
        <p:nvPicPr>
          <p:cNvPr id="27" name="Picture 26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457200"/>
            <a:ext cx="5760720" cy="36004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6208" y="457200"/>
            <a:ext cx="5760720" cy="3600450"/>
          </a:xfrm>
          <a:prstGeom prst="rect">
            <a:avLst/>
          </a:prstGeom>
          <a:noFill/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6_demo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160520"/>
            <a:ext cx="5760720" cy="257860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6208" y="4160520"/>
            <a:ext cx="5760720" cy="2578608"/>
          </a:xfrm>
          <a:prstGeom prst="rect">
            <a:avLst/>
          </a:prstGeom>
          <a:noFill/>
          <a:ln w="1905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24528"/>
            <a:ext cx="2286000" cy="274320"/>
          </a:xfrm>
          <a:prstGeom prst="rect">
            <a:avLst/>
          </a:prstGeom>
          <a:solidFill>
            <a:srgbClr val="3A0010"/>
          </a:solidFill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2D4A"/>
                </a:solidFill>
                <a:latin typeface="Consolas"/>
              </a:rPr>
              <a:t>[ MAY 2024 REPLAY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05/12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Real APIs. Zero mocks.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Every data source is live.  Every call is real Twilio.  Every map pin is a real DISCOM.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19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92224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1645919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792224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645919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810512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TypeScript  +  Tailwind CSS  +  Mapbox GL JS  +  Three.js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414016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2414016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256032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FastAPI 0.110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2414016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578608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APScheduler  +  Python 3.13  +  httpx  +  Supabase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182112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28415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7712" y="3182112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3328415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Supabase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3182112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3346704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PostgreSQL  +  realtime  |  28 DISCOMs  +  alert log  +  v2 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5020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9651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67712" y="395020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409651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Twilio + Polly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395020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411480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Amazon Polly Aditi (hi-IN)  |  TTS → MP3 fallback  |  call recording proof in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18304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64608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67712" y="4718304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486460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NASA DONKI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0208" y="4718304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4882895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NOAA SWPC Kp 5-min  +  NASA CME/GST 15-min  +  local storm archive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486400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632704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DEPLOY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67712" y="5486400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2" y="5632704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Vercel + Railway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0208" y="5486400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78224" y="5650992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frontend-rust-xi-79.vercel.app  +  powerful-respect-production.up.railway.app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0744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Vercel deploy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5848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3864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Railway backend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0216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Twilio tested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44584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onsolas"/>
              </a:rPr>
              <a:t>6 DAYS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Concept to ship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06/12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Autonomous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No human in the trigger path.  Polls every 5-15 min.  Fires alerts in parallel.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755648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NASA 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CME + GST
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231136"/>
            <a:ext cx="347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Nirmala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3328415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NOAA 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Kp-index
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803904"/>
            <a:ext cx="347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Nirmala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901183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199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72A8"/>
                </a:solidFill>
                <a:latin typeface="Calibri Light"/>
              </a:rPr>
              <a:t>ISRO VEDAS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2297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Phase 2
ionosphere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1627632"/>
            <a:ext cx="3063240" cy="4572000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20c1c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1627632"/>
            <a:ext cx="30632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2852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nsolas"/>
              </a:rPr>
              <a:t>KAVACH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304288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FastAPI + APScheduler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24912"/>
            <a:ext cx="283464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8163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Storm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41071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DISCOM Mapper (x28)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00507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Aurora Predictor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45994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Daily Shield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1937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Alert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139696"/>
            <a:ext cx="347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Nirmala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1755648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18653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286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Alert log +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438144"/>
            <a:ext cx="347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Nirmala U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3054096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163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Twilio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5844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Hindi voice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736592"/>
            <a:ext cx="347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Nirmala U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4352544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44622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Next.js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8828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28 zones realtime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2487168"/>
            <a:ext cx="2670048" cy="1920240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6060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Farmer's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1089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No app needed
No internet
Just a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3246120"/>
            <a:ext cx="347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Nirmala U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07/12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57200"/>
            <a:ext cx="2423160" cy="685800"/>
          </a:xfrm>
          <a:prstGeom prst="roundRect">
            <a:avLst/>
          </a:prstGeom>
          <a:gradFill>
            <a:gsLst>
              <a:gs pos="0">
                <a:srgbClr val="cc0022"/>
              </a:gs>
              <a:gs pos="100000">
                <a:srgbClr val="880011"/>
              </a:gs>
            </a:gsLst>
            <a:lin ang="10800000" scaled="0"/>
          </a:gradFill>
          <a:ln>
            <a:noFill/>
          </a:ln>
          <a:effectLst>
            <a:outerShdw blurRad="63500" dist="300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[ LIVE DEMO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572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22.6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May 10, 2024  |  Kp = 9.0  |  G5 EXTREME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175564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4" y="192024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2FF"/>
                </a:solidFill>
                <a:latin typeface="Consolas"/>
              </a:rPr>
              <a:t>NOMINAL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75564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92024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Monitoring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414015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2551176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1576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551176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27157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CME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551176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715768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X-class flare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3209544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346704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511296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T+5s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346704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351129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Kp = 9.0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346704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351129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EXTREME  G5  confirmed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005072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4142231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306823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T+14s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8760" y="4142231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9344" y="4306823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MAP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142231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4306823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All 28 zones → 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4800599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4937760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10235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T+17s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08760" y="4937760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66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510235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onsolas"/>
              </a:rPr>
              <a:t>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937760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4176" y="5102352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DISCOMs  +  12,400 farmers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5596128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573328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897879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T+20s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08760" y="573328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5897879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CALL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573328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5897879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rings  +  recording proof</a:t>
            </a:r>
          </a:p>
        </p:txBody>
      </p:sp>
      <p:pic>
        <p:nvPicPr>
          <p:cNvPr id="50" name="Picture 49" descr="06_dem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627632"/>
            <a:ext cx="5349240" cy="334670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601968" y="1627632"/>
            <a:ext cx="5349240" cy="3346704"/>
          </a:xfrm>
          <a:prstGeom prst="rect">
            <a:avLst/>
          </a:prstGeom>
          <a:noFill/>
          <a:ln w="254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504748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2D4A"/>
                </a:solidFill>
                <a:latin typeface="Consolas"/>
              </a:rPr>
              <a:t>India map: all 28 DISCOMs in RED  |  Alerts firing in parallel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22.6s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0759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demo runtime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1460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432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4.5h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071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warning window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1772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2744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13831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Vercel + Railway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STORM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08/12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21 years of storms.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KAVACH applied retroactively to every major Indian geomagnetic event since 2003.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288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onsolas"/>
              </a:rPr>
              <a:t>2003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8288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Halloween Superstorm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288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116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18288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9933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8h avg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9024" y="18288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0464" y="20116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Consolas"/>
              </a:rPr>
              <a:t>294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7432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onsolas"/>
              </a:rPr>
              <a:t>2015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27432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St. Patrick's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27432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29260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9056" y="27432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0496" y="29077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6h avg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79024" y="27432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0464" y="29260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onsolas"/>
              </a:rPr>
              <a:t>216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36576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D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404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23F"/>
                </a:solidFill>
                <a:latin typeface="Consolas"/>
              </a:rPr>
              <a:t>2017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36576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September X9.3 Flare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6288" y="36576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38404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9056" y="36576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822191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5h avg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9024" y="36576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70464" y="3840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23F"/>
                </a:solidFill>
                <a:latin typeface="Consolas"/>
              </a:rPr>
              <a:t>192 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45720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548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2D4A"/>
                </a:solidFill>
                <a:latin typeface="Consolas"/>
              </a:rPr>
              <a:t>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45720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754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 Light"/>
              </a:rPr>
              <a:t>May G5  [SOURCE]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76288" y="45720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47548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49056" y="45720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47365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4.5h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79024" y="45720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0464" y="47548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2D4A"/>
                </a:solidFill>
                <a:latin typeface="Consolas"/>
              </a:rPr>
              <a:t>145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15727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YEAR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157276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STORM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Kp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1572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WARNING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9024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2D4A"/>
                </a:solidFill>
                <a:latin typeface="Consolas"/>
              </a:rPr>
              <a:t>847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total alerts fired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8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12,400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subscribers per storm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47888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6h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8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average warning window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DAILY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09/12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365 days a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872A8"/>
                </a:solidFill>
                <a:latin typeface="Calibri Light"/>
              </a:rPr>
              <a:t>Space Weather Score  |  6:30 AM IST  |  Hindi +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55961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9202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0-100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568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19019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Space Weather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212848"/>
            <a:ext cx="4178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India's space weather AQI
Green 80+ = normal 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43200"/>
            <a:ext cx="55961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8346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GPS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8712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28163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GPS Accuracy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127248"/>
            <a:ext cx="4178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Precision ag tractors
Fishing boat GPS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57600"/>
            <a:ext cx="55961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749039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785615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19" y="37307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DISCOM Risk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041648"/>
            <a:ext cx="4178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Per-zone transformer risk
Operator dashboard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572000"/>
            <a:ext cx="55961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6634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7000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19" y="46451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956048"/>
            <a:ext cx="4178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Himalayan locations
Kp-based prediction nightly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486400"/>
            <a:ext cx="55961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55778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LANG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6144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19" y="55595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Bilingual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5870448"/>
            <a:ext cx="4178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for farmers
English for DISCOM operators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566928"/>
            <a:ext cx="5760720" cy="6053328"/>
          </a:xfrm>
          <a:prstGeom prst="roundRect">
            <a:avLst/>
          </a:prstGeom>
          <a:gradFill>
            <a:gsLst>
              <a:gs pos="0">
                <a:srgbClr val="020c1c"/>
              </a:gs>
              <a:gs pos="100000">
                <a:srgbClr val="03101e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566928"/>
            <a:ext cx="5760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6208" y="621792"/>
            <a:ext cx="5760720" cy="438912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676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KAVACH  [ 06:30 AM IST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6766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FF88"/>
                </a:solidFill>
                <a:latin typeface="Consolas"/>
              </a:rPr>
              <a:t>NOMINAL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1188720"/>
            <a:ext cx="5413248" cy="1737360"/>
          </a:xfrm>
          <a:prstGeom prst="roundRect">
            <a:avLst/>
          </a:prstGeom>
          <a:solidFill>
            <a:srgbClr val="01100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280160"/>
            <a:ext cx="5257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FF88"/>
                </a:solidFill>
                <a:latin typeface="Consolas"/>
              </a:rPr>
              <a:t>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042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88"/>
                </a:solidFill>
                <a:latin typeface="Consolas"/>
              </a:rPr>
              <a:t>/ 100   SHIELD NOMINAL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7376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GPS 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GRID 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31552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4704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AURORA 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9088" y="3584448"/>
            <a:ext cx="5413248" cy="2359152"/>
          </a:xfrm>
          <a:prstGeom prst="roundRect">
            <a:avLst/>
          </a:prstGeom>
          <a:solidFill>
            <a:srgbClr val="020E1A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3694176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Nirmala UI"/>
              </a:rPr>
              <a:t>KAVACH सुरक्षा संदेश</a:t>
            </a:r>
          </a:p>
          <a:p>
            <a:r>
              <a:rPr sz="800" i="1">
                <a:solidFill>
                  <a:srgbClr val="6872A8"/>
                </a:solidFill>
                <a:latin typeface="Consolas"/>
              </a:rPr>
              <a:t>KAVACH Safety Message</a:t>
            </a:r>
          </a:p>
          <a:p>
            <a:r>
              <a:rPr sz="1100" b="1">
                <a:solidFill>
                  <a:srgbClr val="00FF88"/>
                </a:solidFill>
                <a:latin typeface="Nirmala UI"/>
              </a:rPr>
              <a:t>तारीख: आज</a:t>
            </a:r>
          </a:p>
          <a:p>
            <a:r>
              <a:rPr sz="800" i="1">
                <a:solidFill>
                  <a:srgbClr val="6872A8"/>
                </a:solidFill>
                <a:latin typeface="Consolas"/>
              </a:rPr>
              <a:t>Date: Today</a:t>
            </a:r>
          </a:p>
          <a:p>
            <a:r>
              <a:rPr sz="1100" b="1">
                <a:solidFill>
                  <a:srgbClr val="00FF88"/>
                </a:solidFill>
                <a:latin typeface="Nirmala UI"/>
              </a:rPr>
              <a:t>आज का स्कोर: 95 / 100</a:t>
            </a:r>
          </a:p>
          <a:p>
            <a:r>
              <a:rPr sz="800" i="1">
                <a:solidFill>
                  <a:srgbClr val="6872A8"/>
                </a:solidFill>
                <a:latin typeface="Consolas"/>
              </a:rPr>
              <a:t>Today's Score: 95 / 100</a:t>
            </a:r>
          </a:p>
          <a:p>
            <a:r>
              <a:rPr sz="1100" b="1">
                <a:solidFill>
                  <a:srgbClr val="00FF88"/>
                </a:solidFill>
                <a:latin typeface="Nirmala UI"/>
              </a:rPr>
              <a:t>GPS: सामान्य  |  ग्रिड: सुरक्षित</a:t>
            </a:r>
          </a:p>
          <a:p>
            <a:r>
              <a:rPr sz="800" i="1">
                <a:solidFill>
                  <a:srgbClr val="6872A8"/>
                </a:solidFill>
                <a:latin typeface="Consolas"/>
              </a:rPr>
              <a:t>GPS: Normal  |  Grid: Safe</a:t>
            </a:r>
          </a:p>
          <a:p>
            <a:r>
              <a:rPr sz="1100" b="1">
                <a:solidFill>
                  <a:srgbClr val="00FF88"/>
                </a:solidFill>
                <a:latin typeface="Nirmala UI"/>
              </a:rPr>
              <a:t>कोई सौर तूफान नहीं</a:t>
            </a:r>
          </a:p>
          <a:p>
            <a:r>
              <a:rPr sz="800" i="1">
                <a:solidFill>
                  <a:srgbClr val="6872A8"/>
                </a:solidFill>
                <a:latin typeface="Consolas"/>
              </a:rPr>
              <a:t>No solar storm</a:t>
            </a:r>
          </a:p>
          <a:p>
            <a:r>
              <a:rPr sz="1100" b="1">
                <a:solidFill>
                  <a:srgbClr val="00FF88"/>
                </a:solidFill>
                <a:latin typeface="Nirmala UI"/>
              </a:rPr>
              <a:t>KAVACH सक्रिय है।</a:t>
            </a:r>
          </a:p>
          <a:p>
            <a:r>
              <a:rPr sz="800" i="1">
                <a:solidFill>
                  <a:srgbClr val="6872A8"/>
                </a:solidFill>
                <a:latin typeface="Consolas"/>
              </a:rPr>
              <a:t>KAVACH is active.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6053328"/>
            <a:ext cx="5413248" cy="384048"/>
          </a:xfrm>
          <a:prstGeom prst="roundRect">
            <a:avLst/>
          </a:prstGeom>
          <a:solidFill>
            <a:srgbClr val="005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61081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INDIA'S SPACE WEATHER AQI  |  DAILY AT 06:30 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10/12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457200"/>
            <a:ext cx="11384280" cy="960120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0" scaled="0"/>
          </a:gradFill>
          <a:ln w="254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FF88"/>
                </a:solidFill>
                <a:latin typeface="Consolas"/>
              </a:rPr>
              <a:t>600x 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872A8"/>
                </a:solidFill>
                <a:latin typeface="Calibri Light"/>
              </a:rPr>
              <a:t>₹5L/month subscription  protects  ₹3,000 Cr in transformer assets per DISCOM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84831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084831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26771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Citizens / Farmers / Fishermen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2084831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226771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Public alerts + Hindi voice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2084831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26771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₹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9067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DISCOM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09067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327355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Electricity Utilities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309067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327355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72h forecast + SCADA integration +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85248" y="309067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27355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₹2-5L/month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9651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7939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5 DISCOMs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09651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427939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Year 1 anchor contracts (target)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09651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427939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Pilot → ARR target → Round 2 expansion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85248" y="409651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427939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₹1.8Cr/year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10235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8523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PHASE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10235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896" y="528523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Aviation / Telecom / Insurance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70448" y="510235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528523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DGCA + BSNL + LIC APIs as risk oracles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85248" y="510235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528523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TBD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FF88"/>
                </a:solidFill>
                <a:latin typeface="Consolas"/>
              </a:rPr>
              <a:t>₹3,000 Cr  [transformer asset exposure]  vs  ₹5L  [monthly subscription]  =  600x protection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053328"/>
            <a:ext cx="11384280" cy="54864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6053328"/>
            <a:ext cx="11365992" cy="54864"/>
          </a:xfrm>
          <a:prstGeom prst="rect">
            <a:avLst/>
          </a:prstGeom>
          <a:gradFill>
            <a:gsLst>
              <a:gs pos="0">
                <a:srgbClr val="00ff88"/>
              </a:gs>
              <a:gs pos="100000">
                <a:srgbClr val="00442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11/12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Round 2 / Tokyo.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53312"/>
            <a:ext cx="11411712" cy="1115568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8100000" scaled="0"/>
          </a:gradFill>
          <a:ln w="1905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53312"/>
            <a:ext cx="11411712" cy="5029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onsolas"/>
              </a:rPr>
              <a:t>FLAGSHIP 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Multi-Language:  Hindi  +  Tamil  +  Telugu  +  Marathi  +  Bengali  +  Punjabi  +  Gujarati  +  Kannada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VEDAS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ISRO VEDAS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India-specific ionospheric
scintillation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23F"/>
                </a:solidFill>
                <a:latin typeface="Consolas"/>
              </a:rPr>
              <a:t>WA/SMS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WhatsApp + SMS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Multi-channel delivery
zero missed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onsolas"/>
              </a:rPr>
              <a:t>REPLY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6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784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Two-Way Voice Reply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Farmer presses 1 to confirm
2 for help — KAVACH escalates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5522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onsolas"/>
              </a:rPr>
              <a:t>CME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CME Transit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4-18h precise countdown
per-zone impact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687568"/>
            <a:ext cx="11411712" cy="89611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onsolas"/>
              </a:rPr>
              <a:t>SaaS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9072" y="5779008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760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DISCOM Operator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163056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Operator-facing SaaS portal  |  Custom alerting  |  SCADA integration  |  Contractual ARR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12/12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TEAM 404_SHINOBI  |  SPACE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8368"/>
            <a:ext cx="8686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335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8892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2"/>
              </a:rPr>
              <a:t>frontend-rust-xi-79.vercel.app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GITHUB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3"/>
              </a:rPr>
              <a:t>github.com/VibhorJain1974/kavach-faraway-2026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  <a:hlinkClick r:id="rId4"/>
              </a:rPr>
              <a:t>jvibhor202@gmail.com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23F"/>
                </a:solidFill>
                <a:latin typeface="Calibri Light"/>
              </a:rPr>
              <a:t>404_SHINOBI  |  FAR AWAY 2026</a:t>
            </a:r>
          </a:p>
        </p:txBody>
      </p:sp>
      <p:pic>
        <p:nvPicPr>
          <p:cNvPr id="21" name="Picture 20" descr="07_demo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01168"/>
            <a:ext cx="2971800" cy="185623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006840" y="201168"/>
            <a:ext cx="2971800" cy="1856231"/>
          </a:xfrm>
          <a:prstGeom prst="rect">
            <a:avLst/>
          </a:prstGeom>
          <a:noFill/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212140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FF88"/>
                </a:solidFill>
                <a:latin typeface="Consolas"/>
              </a:rPr>
              <a:t>demo complete  |  all 28 zones warned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Deploy: Vercel + Railway  |  Voice: Twilio + Amazon Polly Aditi  |  Data: NASA DONKI + NOAA SWPC + Local archive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